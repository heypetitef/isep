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  <p:sldId id="267" r:id="rId12"/>
    <p:sldId id="264" r:id="rId13"/>
    <p:sldId id="265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A1"/>
    <a:srgbClr val="D6C278"/>
    <a:srgbClr val="FF7900"/>
    <a:srgbClr val="F60400"/>
    <a:srgbClr val="009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4C1A0-399D-4030-A6AC-86DE0E69321D}" v="2766" dt="2025-09-23T21:18:32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8295" autoAdjust="0"/>
  </p:normalViewPr>
  <p:slideViewPr>
    <p:cSldViewPr snapToGrid="0">
      <p:cViewPr varScale="1">
        <p:scale>
          <a:sx n="142" d="100"/>
          <a:sy n="142" d="100"/>
        </p:scale>
        <p:origin x="9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7BF9F-8A72-46A8-BB47-06C62536173C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80C0A-7194-41AE-A7BC-ACD97510FB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65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Bonjour,</a:t>
            </a:r>
          </a:p>
          <a:p>
            <a:r>
              <a:rPr lang="fr-FR" dirty="0"/>
              <a:t>Je m’appelle Xiaofan Guo.</a:t>
            </a:r>
          </a:p>
          <a:p>
            <a:r>
              <a:rPr lang="fr-FR" dirty="0"/>
              <a:t>Aujourd’hui, je vais présenter mon bilan de compétences et projet professionnel.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660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Mon exposé suit cinq parties :</a:t>
            </a:r>
            <a:br>
              <a:rPr lang="fr-FR" altLang="zh-CN" dirty="0"/>
            </a:br>
            <a:r>
              <a:rPr lang="fr-FR" altLang="zh-CN" dirty="0"/>
              <a:t>D’abord, mon parcours académique et mes expériences.</a:t>
            </a:r>
            <a:br>
              <a:rPr lang="fr-FR" altLang="zh-CN" dirty="0"/>
            </a:br>
            <a:r>
              <a:rPr lang="fr-FR" altLang="zh-CN" dirty="0"/>
              <a:t>Ensuite, mes compétences spécialisées et générales.</a:t>
            </a:r>
            <a:br>
              <a:rPr lang="fr-FR" altLang="zh-CN" dirty="0"/>
            </a:br>
            <a:r>
              <a:rPr lang="fr-FR" altLang="zh-CN" dirty="0"/>
              <a:t>Puis, mes écarts et axes de progrès.</a:t>
            </a:r>
            <a:br>
              <a:rPr lang="fr-FR" altLang="zh-CN" dirty="0"/>
            </a:br>
            <a:r>
              <a:rPr lang="fr-FR" altLang="zh-CN" dirty="0"/>
              <a:t>Après cela, mon projet professionnel et une analyse SWOT.</a:t>
            </a:r>
            <a:br>
              <a:rPr lang="fr-FR" altLang="zh-CN" dirty="0"/>
            </a:br>
            <a:r>
              <a:rPr lang="fr-FR" altLang="zh-CN" dirty="0"/>
              <a:t>Enfin, mon CV synthétique et le poste visé.</a:t>
            </a:r>
            <a:endParaRPr lang="fr-FR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536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Je présenterai mon Parcours académique et expériences sous trois aspects : formation, </a:t>
            </a:r>
            <a:r>
              <a:rPr lang="fr-FR" altLang="zh-CN" dirty="0" err="1"/>
              <a:t>expérience,benevolat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r>
              <a:rPr lang="fr-FR" altLang="zh-CN" dirty="0"/>
              <a:t>2018 j’ai commencé mes études à l’Université Clermont Auvergne, où j’ai obtenu une licence en informatique avec mention Très Bien.</a:t>
            </a:r>
          </a:p>
          <a:p>
            <a:br>
              <a:rPr lang="fr-FR" altLang="zh-CN" dirty="0"/>
            </a:br>
            <a:r>
              <a:rPr lang="fr-FR" altLang="zh-CN" dirty="0"/>
              <a:t>Depuis 2022, car je veux continue mes études en communication sans fils, j’ai </a:t>
            </a:r>
            <a:r>
              <a:rPr lang="fr-FR" altLang="zh-CN" dirty="0" err="1"/>
              <a:t>choise</a:t>
            </a:r>
            <a:r>
              <a:rPr lang="fr-FR" altLang="zh-CN" dirty="0"/>
              <a:t> l’ISEP pour diplôme d’ingénieur , dans la spécialisation </a:t>
            </a:r>
            <a:r>
              <a:rPr lang="fr-FR" altLang="zh-CN" sz="1200" i="1" noProof="0" dirty="0">
                <a:solidFill>
                  <a:srgbClr val="005FA1"/>
                </a:solidFill>
              </a:rPr>
              <a:t>Systèmes de communication sans fil et IoT.</a:t>
            </a:r>
          </a:p>
          <a:p>
            <a:endParaRPr lang="fr-FR" altLang="zh-CN" dirty="0"/>
          </a:p>
          <a:p>
            <a:r>
              <a:rPr lang="fr-FR" altLang="zh-CN" dirty="0"/>
              <a:t>J’ai réalisé deux stages.</a:t>
            </a:r>
          </a:p>
          <a:p>
            <a:br>
              <a:rPr lang="fr-FR" altLang="zh-CN" dirty="0"/>
            </a:br>
            <a:r>
              <a:rPr lang="fr-FR" altLang="zh-CN" dirty="0"/>
              <a:t>Le premier, en 2021, chez </a:t>
            </a:r>
            <a:r>
              <a:rPr lang="fr-FR" altLang="zh-CN" dirty="0" err="1"/>
              <a:t>Dongfeng</a:t>
            </a:r>
            <a:r>
              <a:rPr lang="fr-FR" altLang="zh-CN" dirty="0"/>
              <a:t> </a:t>
            </a:r>
            <a:r>
              <a:rPr lang="fr-FR" altLang="zh-CN" dirty="0" err="1"/>
              <a:t>Motor</a:t>
            </a:r>
            <a:r>
              <a:rPr lang="fr-FR" altLang="zh-CN" dirty="0"/>
              <a:t> en Chine, où j’ai travaillé sur le développement et les tests pour la conduite autonome.</a:t>
            </a:r>
          </a:p>
          <a:p>
            <a:br>
              <a:rPr lang="fr-FR" altLang="zh-CN" dirty="0"/>
            </a:br>
            <a:r>
              <a:rPr lang="fr-FR" altLang="zh-CN" dirty="0"/>
              <a:t>Le deuxième, en 2025, chez Orange Innovation en France, sur l’optimisation énergétique du cœur 5G.</a:t>
            </a:r>
          </a:p>
          <a:p>
            <a:endParaRPr lang="fr-FR" altLang="zh-CN" dirty="0"/>
          </a:p>
          <a:p>
            <a:r>
              <a:rPr lang="fr-FR" altLang="zh-CN" dirty="0"/>
              <a:t>J'ai fait deux activités bénévoles l'année dernière.</a:t>
            </a:r>
          </a:p>
          <a:p>
            <a:endParaRPr lang="fr-FR" dirty="0"/>
          </a:p>
          <a:p>
            <a:r>
              <a:rPr lang="fr-FR" dirty="0"/>
              <a:t>Pendant les Jeux olympiques de Paris, j'ai été bénévole au Centre de presse, fournissant des services informatiques. </a:t>
            </a:r>
          </a:p>
          <a:p>
            <a:endParaRPr lang="fr-FR" dirty="0"/>
          </a:p>
          <a:p>
            <a:r>
              <a:rPr lang="fr-FR" dirty="0"/>
              <a:t>Pendant les Jeux paralympiques, j'ai aidé l'équipe mongole au village olympique.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370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Dans mon parcours, j’ai développé plusieurs compétences spécialisées.</a:t>
            </a:r>
          </a:p>
          <a:p>
            <a:endParaRPr lang="fr-FR" altLang="zh-CN" dirty="0"/>
          </a:p>
          <a:p>
            <a:r>
              <a:rPr lang="fr-FR" altLang="zh-CN" dirty="0"/>
              <a:t>Premièrement, la </a:t>
            </a:r>
            <a:r>
              <a:rPr lang="fr-FR" altLang="zh-CN" b="1" dirty="0"/>
              <a:t>résolution de problèmes complexes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Par exemple, dans le projet de capteurs pour la détection de chute, j’ai développé une application Android connectée en Bluetooth.</a:t>
            </a:r>
            <a:br>
              <a:rPr lang="fr-FR" altLang="zh-CN" dirty="0"/>
            </a:br>
            <a:r>
              <a:rPr lang="fr-FR" altLang="zh-CN" dirty="0"/>
              <a:t>Cela a montré ma capacité à résoudre un problème multidisciplinaire, en intégrant matériel et logiciel sous des contraintes techniques.</a:t>
            </a:r>
          </a:p>
          <a:p>
            <a:endParaRPr lang="fr-FR" altLang="zh-CN" dirty="0"/>
          </a:p>
          <a:p>
            <a:r>
              <a:rPr lang="fr-FR" altLang="zh-CN" dirty="0"/>
              <a:t>Deuxièmement, la </a:t>
            </a:r>
            <a:r>
              <a:rPr lang="fr-FR" altLang="zh-CN" b="1" dirty="0"/>
              <a:t>conception de systèmes techniques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Dans le projet TIVA, j’ai réalisé le câblage matériel, les tests et l’intégration logicielle.</a:t>
            </a:r>
            <a:br>
              <a:rPr lang="fr-FR" altLang="zh-CN" dirty="0"/>
            </a:br>
            <a:r>
              <a:rPr lang="fr-FR" altLang="zh-CN" dirty="0"/>
              <a:t>Cette expérience a renforcé ma rigueur dans la conception et m’a appris à développer des systèmes fiables et fonctionnels.</a:t>
            </a:r>
          </a:p>
          <a:p>
            <a:endParaRPr lang="fr-FR" altLang="zh-CN" dirty="0"/>
          </a:p>
          <a:p>
            <a:r>
              <a:rPr lang="fr-FR" altLang="zh-CN" dirty="0"/>
              <a:t>Troisièmement, le </a:t>
            </a:r>
            <a:r>
              <a:rPr lang="fr-FR" altLang="zh-CN" b="1" dirty="0"/>
              <a:t>travail en mode projet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Avec le projet de bibliothèque, j’ai conçu la base de données et assuré l’intégration </a:t>
            </a:r>
            <a:r>
              <a:rPr lang="fr-FR" altLang="zh-CN" dirty="0" err="1"/>
              <a:t>front-end</a:t>
            </a:r>
            <a:r>
              <a:rPr lang="fr-FR" altLang="zh-CN" dirty="0"/>
              <a:t> et </a:t>
            </a:r>
            <a:r>
              <a:rPr lang="fr-FR" altLang="zh-CN" dirty="0" err="1"/>
              <a:t>back-end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J’y ai appris à organiser, planifier et suivre un projet technique de bout en bout.</a:t>
            </a:r>
          </a:p>
          <a:p>
            <a:endParaRPr lang="fr-FR" altLang="zh-CN" dirty="0"/>
          </a:p>
          <a:p>
            <a:r>
              <a:rPr lang="fr-FR" altLang="zh-CN" dirty="0"/>
              <a:t>Enfin, les </a:t>
            </a:r>
            <a:r>
              <a:rPr lang="fr-FR" altLang="zh-CN" b="1" dirty="0"/>
              <a:t>méthodes de recherche et application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Mon projet de fin d’études sur la localisation indoor avec DNN et GNN m’a permis de modéliser, entraîner et évaluer des modèles.</a:t>
            </a:r>
            <a:br>
              <a:rPr lang="fr-FR" altLang="zh-CN" dirty="0"/>
            </a:br>
            <a:r>
              <a:rPr lang="fr-FR" altLang="zh-CN" dirty="0"/>
              <a:t>J’ai ainsi renforcé ma capacité à appliquer une démarche scientifique et à analyser les résultats de manière.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62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J’ai aussi développé des compétences générales importantes.</a:t>
            </a:r>
          </a:p>
          <a:p>
            <a:endParaRPr lang="fr-FR" altLang="zh-CN" dirty="0"/>
          </a:p>
          <a:p>
            <a:r>
              <a:rPr lang="fr-FR" altLang="zh-CN" dirty="0"/>
              <a:t>D’abord, le </a:t>
            </a:r>
            <a:r>
              <a:rPr lang="fr-FR" altLang="zh-CN" b="1" dirty="0"/>
              <a:t>travail en équipe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Dans les projets à l’ISEP et comme bénévole aux Jeux Olympiques, et pendant mon stage, j’ai collaboré avec des personnes de différentes cultures.</a:t>
            </a:r>
            <a:br>
              <a:rPr lang="fr-FR" altLang="zh-CN" dirty="0"/>
            </a:br>
            <a:r>
              <a:rPr lang="fr-FR" altLang="zh-CN" dirty="0"/>
              <a:t>Cela m’a appris à coopérer efficacement dans un environnement multiculturel.</a:t>
            </a:r>
          </a:p>
          <a:p>
            <a:endParaRPr lang="fr-FR" altLang="zh-CN" dirty="0"/>
          </a:p>
          <a:p>
            <a:r>
              <a:rPr lang="fr-FR" altLang="zh-CN" dirty="0"/>
              <a:t>Ensuite, la </a:t>
            </a:r>
            <a:r>
              <a:rPr lang="fr-FR" altLang="zh-CN" b="1" dirty="0"/>
              <a:t>communication </a:t>
            </a:r>
            <a:r>
              <a:rPr lang="fr-FR" altLang="zh-CN" b="1" dirty="0">
                <a:solidFill>
                  <a:srgbClr val="005FA1"/>
                </a:solidFill>
              </a:rPr>
              <a:t>et expression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J’ai présenté mes projets en français et en anglais, ce qui m’a permis d’améliorer ma clarté et mon adaptation selon le public.</a:t>
            </a:r>
            <a:br>
              <a:rPr lang="fr-FR" altLang="zh-CN" dirty="0"/>
            </a:br>
            <a:r>
              <a:rPr lang="fr-FR" altLang="zh-CN" dirty="0"/>
              <a:t>C’est une compétence essentielle pour expliquer des sujets techniques.</a:t>
            </a:r>
          </a:p>
          <a:p>
            <a:endParaRPr lang="fr-FR" altLang="zh-CN" dirty="0"/>
          </a:p>
          <a:p>
            <a:r>
              <a:rPr lang="fr-FR" altLang="zh-CN" dirty="0"/>
              <a:t>Troisièmement, la </a:t>
            </a:r>
            <a:r>
              <a:rPr lang="fr-FR" altLang="zh-CN" b="1" dirty="0"/>
              <a:t>responsabilité et l’autonomie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Par exemple, j’ai décidé de changer d’université, de l’UCA vers l’ISEP, et j’ai géré plusieurs projets en autonomie.</a:t>
            </a:r>
            <a:br>
              <a:rPr lang="fr-FR" altLang="zh-CN" dirty="0"/>
            </a:br>
            <a:r>
              <a:rPr lang="fr-FR" altLang="zh-CN" dirty="0"/>
              <a:t>Cela a montré ma capacité à prendre des décisions et à assumer des responsabilités.</a:t>
            </a:r>
          </a:p>
          <a:p>
            <a:endParaRPr lang="fr-FR" altLang="zh-CN" dirty="0"/>
          </a:p>
          <a:p>
            <a:r>
              <a:rPr lang="fr-FR" altLang="zh-CN" dirty="0"/>
              <a:t>Enfin, l’</a:t>
            </a:r>
            <a:r>
              <a:rPr lang="fr-FR" altLang="zh-CN" b="1" dirty="0"/>
              <a:t>innovation et l’initiative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Dans plusieurs projets, j’ai proposé et développé des fonctionnalités supplémentaires, comme une application Android ou un module de sécurité pour base de données.</a:t>
            </a:r>
            <a:br>
              <a:rPr lang="fr-FR" altLang="zh-CN" dirty="0"/>
            </a:br>
            <a:r>
              <a:rPr lang="fr-FR" altLang="zh-CN" dirty="0"/>
              <a:t>Ces expériences ont renforcé mon esprit d’innovation et ma capacité à apporter de la valeur ajoutée.</a:t>
            </a:r>
          </a:p>
          <a:p>
            <a:endParaRPr lang="fr-FR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51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Bien sûr, j’ai aussi identifié certains points à améliorer.</a:t>
            </a:r>
          </a:p>
          <a:p>
            <a:endParaRPr lang="fr-FR" altLang="zh-CN" dirty="0"/>
          </a:p>
          <a:p>
            <a:r>
              <a:rPr lang="fr-FR" altLang="zh-CN" dirty="0"/>
              <a:t>D’abord, l’</a:t>
            </a:r>
            <a:r>
              <a:rPr lang="fr-FR" altLang="zh-CN" b="1" dirty="0"/>
              <a:t>expression orale en français et en anglais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Pendant mon stage, j’ai parfois eu des difficultés à m’exprimer librement dans les discussions quotidiennes.</a:t>
            </a:r>
            <a:br>
              <a:rPr lang="fr-FR" altLang="zh-CN" dirty="0"/>
            </a:br>
            <a:r>
              <a:rPr lang="fr-FR" altLang="zh-CN" dirty="0"/>
              <a:t>Je veux donc renforcer mes capacités de communication, à la fois dans la vie quotidienne et dans le domaine professionnel.</a:t>
            </a:r>
          </a:p>
          <a:p>
            <a:endParaRPr lang="fr-FR" altLang="zh-CN" dirty="0"/>
          </a:p>
          <a:p>
            <a:r>
              <a:rPr lang="fr-FR" altLang="zh-CN" dirty="0"/>
              <a:t>Ensuite, la </a:t>
            </a:r>
            <a:r>
              <a:rPr lang="fr-FR" altLang="zh-CN" b="1" dirty="0"/>
              <a:t>gestion du stress face aux problèmes techniques</a:t>
            </a:r>
            <a:r>
              <a:rPr lang="fr-FR" altLang="zh-CN" dirty="0"/>
              <a:t>.</a:t>
            </a:r>
          </a:p>
          <a:p>
            <a:r>
              <a:rPr lang="fr-FR" altLang="zh-CN" dirty="0"/>
              <a:t>Lorsque je rencontre des événements inattendus ou que je n’obtiens pas les résultats souhaités, je deviens très nerveux et cela affecte mon état.</a:t>
            </a:r>
            <a:br>
              <a:rPr lang="fr-FR" altLang="zh-CN" dirty="0"/>
            </a:br>
            <a:r>
              <a:rPr lang="fr-FR" altLang="zh-CN" dirty="0"/>
              <a:t>Et après mon stage, j’ai compris qu’il est important d’adopter une approche plus calme et plus méthodique.</a:t>
            </a:r>
          </a:p>
          <a:p>
            <a:endParaRPr lang="fr-FR" altLang="zh-CN" dirty="0"/>
          </a:p>
          <a:p>
            <a:r>
              <a:rPr lang="fr-FR" altLang="zh-CN" dirty="0"/>
              <a:t>Enfin, mon </a:t>
            </a:r>
            <a:r>
              <a:rPr lang="fr-FR" altLang="zh-CN" b="1" dirty="0"/>
              <a:t>expérience industrielle est encore limitée</a:t>
            </a:r>
            <a:r>
              <a:rPr lang="fr-FR" altLang="zh-CN" dirty="0"/>
              <a:t>.</a:t>
            </a:r>
            <a:br>
              <a:rPr lang="fr-FR" altLang="zh-CN" dirty="0"/>
            </a:br>
            <a:r>
              <a:rPr lang="fr-FR" altLang="zh-CN" dirty="0"/>
              <a:t>Avant Orange, mes projets étaient surtout orientés vers la recherche académique.</a:t>
            </a:r>
            <a:br>
              <a:rPr lang="fr-FR" altLang="zh-CN" dirty="0"/>
            </a:br>
            <a:r>
              <a:rPr lang="fr-FR" altLang="zh-CN" dirty="0"/>
              <a:t>J’ai donc l’intention de développer davantage de pratiques et de collaborations industrielles.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51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Mon projet professionnel est clair et cohérent.</a:t>
            </a:r>
          </a:p>
          <a:p>
            <a:endParaRPr lang="fr-FR" altLang="zh-CN" dirty="0"/>
          </a:p>
          <a:p>
            <a:r>
              <a:rPr lang="fr-FR" altLang="zh-CN" dirty="0"/>
              <a:t>À </a:t>
            </a:r>
            <a:r>
              <a:rPr lang="fr-FR" altLang="zh-CN" b="1" dirty="0"/>
              <a:t>court terme, cette année</a:t>
            </a:r>
            <a:r>
              <a:rPr lang="fr-FR" altLang="zh-CN" dirty="0"/>
              <a:t>, je veux finaliser et soumettre un article scientifique sur la localisation indoor.</a:t>
            </a:r>
          </a:p>
          <a:p>
            <a:br>
              <a:rPr lang="fr-FR" altLang="zh-CN" dirty="0"/>
            </a:br>
            <a:r>
              <a:rPr lang="fr-FR" altLang="zh-CN" dirty="0"/>
              <a:t>Je veux aussi terminer mon stage chez Orange, et réussir l’examen TOEIC afin d’obtenir mon diplôme d’ingénieur.</a:t>
            </a:r>
          </a:p>
          <a:p>
            <a:endParaRPr lang="fr-FR" altLang="zh-CN" dirty="0"/>
          </a:p>
          <a:p>
            <a:r>
              <a:rPr lang="fr-FR" altLang="zh-CN" dirty="0"/>
              <a:t>À </a:t>
            </a:r>
            <a:r>
              <a:rPr lang="fr-FR" altLang="zh-CN" b="1" dirty="0"/>
              <a:t>moyen terme, dans trois à quatre ans</a:t>
            </a:r>
            <a:r>
              <a:rPr lang="fr-FR" altLang="zh-CN" dirty="0"/>
              <a:t>, je veux préparer un doctorat en réseaux de communication, et publier au moins trois articles scientifiques pendant ma thèse.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404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/>
              <a:t>Pour </a:t>
            </a:r>
            <a:r>
              <a:rPr lang="fr-FR" altLang="zh-CN" dirty="0"/>
              <a:t>analyser ma situation personnelle, j'ai réalisé une analyse SWOT.</a:t>
            </a:r>
          </a:p>
          <a:p>
            <a:endParaRPr lang="fr-FR" altLang="zh-CN" dirty="0"/>
          </a:p>
          <a:p>
            <a:r>
              <a:rPr lang="fr-FR" altLang="zh-CN" dirty="0"/>
              <a:t>Mes points forts incluent une solide base en réseaux et en IoT, une solide expérience en recherche, ainsi qu'un haut niveau d'autonomie et d'initiative.</a:t>
            </a:r>
          </a:p>
          <a:p>
            <a:endParaRPr lang="fr-FR" altLang="zh-CN" dirty="0"/>
          </a:p>
          <a:p>
            <a:r>
              <a:rPr lang="fr-FR" altLang="zh-CN" dirty="0"/>
              <a:t>Cependant, mon expression orale multilingue doit être améliorée et j'ai parfois du mal à maintenir un état d'esprit stable face à des situations imprévues.</a:t>
            </a:r>
          </a:p>
          <a:p>
            <a:endParaRPr lang="fr-FR" altLang="zh-CN" dirty="0"/>
          </a:p>
          <a:p>
            <a:r>
              <a:rPr lang="fr-FR" altLang="zh-CN" dirty="0"/>
              <a:t>Mon expérience en développement de projets internationaux et interdisciplinaires, ainsi que mes compétences linguistiques, sont des atouts qui m'aideront à trouver de nouvelles opportunités.</a:t>
            </a:r>
          </a:p>
          <a:p>
            <a:endParaRPr lang="fr-FR" altLang="zh-CN" dirty="0"/>
          </a:p>
          <a:p>
            <a:r>
              <a:rPr lang="fr-FR" altLang="zh-CN" dirty="0"/>
              <a:t>Cependant, la concurrence pour les postes de doctorat est rude et les compétences linguistiques sont très requises dans un environnement international, ce qui constitue mon défi actuel.</a:t>
            </a:r>
            <a:endParaRPr lang="fr-FR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512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Mon CV est présenté sur la photo. Outre les informations mentionnées avant, j’ai aussi les avantages des compétences.</a:t>
            </a:r>
          </a:p>
          <a:p>
            <a:endParaRPr lang="fr-FR" altLang="zh-CN" dirty="0"/>
          </a:p>
          <a:p>
            <a:r>
              <a:rPr lang="fr-FR" altLang="zh-CN" dirty="0"/>
              <a:t>Du côté </a:t>
            </a:r>
            <a:r>
              <a:rPr lang="fr-FR" altLang="zh-CN" b="1" dirty="0"/>
              <a:t>technique</a:t>
            </a:r>
            <a:r>
              <a:rPr lang="fr-FR" altLang="zh-CN" dirty="0"/>
              <a:t>, je maîtrise les réseaux télécoms 4G, 5G et 6G, les systèmes IoT, plusieurs langages de programmation comme Python, Java et C++, ainsi que des outils comme Docker, </a:t>
            </a:r>
            <a:r>
              <a:rPr lang="fr-FR" altLang="zh-CN" dirty="0" err="1"/>
              <a:t>Kubernetes</a:t>
            </a:r>
            <a:r>
              <a:rPr lang="fr-FR" altLang="zh-CN" dirty="0"/>
              <a:t>, </a:t>
            </a:r>
            <a:r>
              <a:rPr lang="fr-FR" altLang="zh-CN" dirty="0" err="1"/>
              <a:t>Prometheus</a:t>
            </a:r>
            <a:r>
              <a:rPr lang="fr-FR" altLang="zh-CN" dirty="0"/>
              <a:t> et </a:t>
            </a:r>
            <a:r>
              <a:rPr lang="fr-FR" altLang="zh-CN" dirty="0" err="1"/>
              <a:t>Grafana</a:t>
            </a:r>
            <a:r>
              <a:rPr lang="fr-FR" altLang="zh-CN" dirty="0"/>
              <a:t>.</a:t>
            </a:r>
          </a:p>
          <a:p>
            <a:endParaRPr lang="fr-FR" altLang="zh-CN" dirty="0"/>
          </a:p>
          <a:p>
            <a:r>
              <a:rPr lang="fr-FR" altLang="zh-CN" dirty="0"/>
              <a:t>Du côté </a:t>
            </a:r>
            <a:r>
              <a:rPr lang="fr-FR" altLang="zh-CN" b="1" dirty="0"/>
              <a:t>transversal</a:t>
            </a:r>
            <a:r>
              <a:rPr lang="fr-FR" altLang="zh-CN" dirty="0"/>
              <a:t>, je peux communiquer en trois langues : chinois, anglais et français.</a:t>
            </a:r>
            <a:br>
              <a:rPr lang="fr-FR" altLang="zh-CN" dirty="0"/>
            </a:br>
            <a:r>
              <a:rPr lang="fr-FR" altLang="zh-CN" dirty="0"/>
              <a:t>J’ai l’habitude de travailler dans des équipes multiculturelles, je suis autonome, et je sais prendre des initiatives.</a:t>
            </a:r>
          </a:p>
          <a:p>
            <a:r>
              <a:rPr lang="fr-FR" altLang="zh-CN" dirty="0"/>
              <a:t>J’ai aussi appris à être résiliente face aux contraintes et aux imprévus.</a:t>
            </a:r>
          </a:p>
          <a:p>
            <a:endParaRPr lang="fr-FR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378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En juin, lors de la remise de mon rapport,</a:t>
            </a:r>
            <a:br>
              <a:rPr lang="fr-FR" altLang="zh-CN" dirty="0"/>
            </a:br>
            <a:r>
              <a:rPr lang="fr-FR" altLang="zh-CN" dirty="0"/>
              <a:t>le poste que je visais était un </a:t>
            </a:r>
            <a:r>
              <a:rPr lang="fr-FR" altLang="zh-CN" b="1" dirty="0"/>
              <a:t>doctorat en réseaux de communication</a:t>
            </a:r>
            <a:r>
              <a:rPr lang="fr-FR" altLang="zh-CN" dirty="0"/>
              <a:t>.</a:t>
            </a:r>
          </a:p>
          <a:p>
            <a:r>
              <a:rPr lang="fr-FR" altLang="zh-CN" dirty="0"/>
              <a:t>Les critères que je recherchais étaient :</a:t>
            </a:r>
            <a:br>
              <a:rPr lang="fr-FR" altLang="zh-CN" dirty="0"/>
            </a:br>
            <a:r>
              <a:rPr lang="fr-FR" altLang="zh-CN" dirty="0"/>
              <a:t>un sujet clair dans les domaines de la 5G, de la 6G et de l’IoT,</a:t>
            </a:r>
            <a:br>
              <a:rPr lang="fr-FR" altLang="zh-CN" dirty="0"/>
            </a:br>
            <a:r>
              <a:rPr lang="fr-FR" altLang="zh-CN" dirty="0"/>
              <a:t>un environnement international et interdisciplinaire,</a:t>
            </a:r>
            <a:br>
              <a:rPr lang="fr-FR" altLang="zh-CN" dirty="0"/>
            </a:br>
            <a:r>
              <a:rPr lang="fr-FR" altLang="zh-CN" dirty="0"/>
              <a:t>ainsi qu’un espace d’autonomie et d’innovation.</a:t>
            </a:r>
            <a:br>
              <a:rPr lang="fr-FR" altLang="zh-CN" dirty="0"/>
            </a:br>
            <a:r>
              <a:rPr lang="fr-FR" altLang="zh-CN" dirty="0"/>
              <a:t>Je souhaitais aussi que les résultats de recherche puissent être valorisés et publiés.</a:t>
            </a:r>
          </a:p>
          <a:p>
            <a:endParaRPr lang="fr-FR" altLang="zh-CN" dirty="0"/>
          </a:p>
          <a:p>
            <a:r>
              <a:rPr lang="fr-FR" altLang="zh-CN" dirty="0"/>
              <a:t>J’ai déjà obtenu une opportunité de poste :</a:t>
            </a:r>
            <a:br>
              <a:rPr lang="fr-FR" altLang="zh-CN" dirty="0"/>
            </a:br>
            <a:r>
              <a:rPr lang="fr-FR" altLang="zh-CN" dirty="0"/>
              <a:t>un </a:t>
            </a:r>
            <a:r>
              <a:rPr lang="fr-FR" altLang="zh-CN" b="1" dirty="0"/>
              <a:t>doctorat conjoint Sorbonne – ISEP – Académie des sciences de Chine</a:t>
            </a:r>
            <a:r>
              <a:rPr lang="fr-FR" altLang="zh-CN" dirty="0"/>
              <a:t>.</a:t>
            </a:r>
          </a:p>
          <a:p>
            <a:r>
              <a:rPr lang="fr-FR" altLang="zh-CN" dirty="0"/>
              <a:t>Les missions principales sont :</a:t>
            </a:r>
            <a:br>
              <a:rPr lang="fr-FR" altLang="zh-CN" dirty="0"/>
            </a:br>
            <a:r>
              <a:rPr lang="fr-FR" altLang="zh-CN" dirty="0"/>
              <a:t>mener des recherches sur les réseaux sans fil et la santé intelligente,</a:t>
            </a:r>
            <a:br>
              <a:rPr lang="fr-FR" altLang="zh-CN" dirty="0"/>
            </a:br>
            <a:r>
              <a:rPr lang="fr-FR" altLang="zh-CN" dirty="0"/>
              <a:t>réaliser des expérimentations sur les systèmes IoT,</a:t>
            </a:r>
            <a:br>
              <a:rPr lang="fr-FR" altLang="zh-CN" dirty="0"/>
            </a:br>
            <a:r>
              <a:rPr lang="fr-FR" altLang="zh-CN" dirty="0"/>
              <a:t>et obtenir des résultats scientifiques grâce à la collaboration internationale.</a:t>
            </a:r>
          </a:p>
          <a:p>
            <a:r>
              <a:rPr lang="fr-FR" altLang="zh-CN" dirty="0"/>
              <a:t>Dans ce projet, je passerai dix-huit mois en France et dix-huit mois en Chine,</a:t>
            </a:r>
            <a:br>
              <a:rPr lang="fr-FR" altLang="zh-CN" dirty="0"/>
            </a:br>
            <a:r>
              <a:rPr lang="fr-FR" altLang="zh-CN" dirty="0"/>
              <a:t>ce qui me permet aussi de valoriser pleinement mes compétences linguistiques.</a:t>
            </a:r>
          </a:p>
          <a:p>
            <a:endParaRPr lang="fr-FR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80C0A-7194-41AE-A7BC-ACD97510FBE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71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6252D-5D91-45DB-384F-FA0CA352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1330E0-4936-FDAD-9814-1088CF6DB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0E341E-26B6-4A5B-93D4-6D11ADDF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1F12A-E042-40AB-A55A-1F4E90DF2ABA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3C0F3-9AA0-4D1D-C964-4D7D43D4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FB100-A2FC-965A-05A3-32C17D8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65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9E0C0-AC79-C602-D748-6E2A955D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24ED3-EE46-9B37-5F7E-6597D177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DC011-23DF-74F6-2984-93491A48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948D-BCB1-416C-A027-EADE736053FA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9FEEF-F876-679F-3A28-94BC81E4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38029-04F6-6992-F64F-F357BCE6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224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8915C-EA06-FE07-3453-53DCA795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0565BC-6B3B-4741-AD80-7CF9C1643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C05FB-F70C-B207-F946-E0268834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E3F76-85CA-46D6-81AC-0B45AEA387D4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439CD5-A3C1-D5BF-8D70-B4E0A5AD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DE069-F1AC-D7B6-36A6-F8C93DC8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62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253AB-9863-5A24-8F79-4D13A011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575F7-8999-1076-B901-55650FC0C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3B104E-06DD-BBD4-0072-EE096AEA2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5C8C93-F183-EE72-8B97-25AE092A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AF2D9-75AC-4696-AB4F-378B1AB7274A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25998C-32B3-5A18-2ADE-16AFABA6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CDB9E3-A302-0EB2-8890-106B0C02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1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983CC-B46D-F8EB-ADAA-9A77190D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BC7A7-CDC8-75FE-8E09-C2D9EEC2D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32D9F4-E6C7-77DD-70CF-6CDE7A654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48D9BE-812D-7E15-9367-52BC6616C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8FA2C2-D62D-1FC7-AB1E-3EE0910B9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4FA10D-A967-26A0-0234-FF9DD2DC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04061-BBDF-4C9C-B27B-4556DF21BC2A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493389-0B16-0CF1-E15D-288A2E1E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3B6DE4-BF11-968B-2AAD-681B11DB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19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97143-FF41-30DC-1C02-401E97A5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FF3AF9-18DC-B881-41A4-DD690CD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50F9B-38DA-4E46-995B-EEFFE7113688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02404F-7BC2-7A55-6E8B-4093BF08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1DF9BB-E831-F10F-B4B1-E9C2C97C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64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1D4E50-0A1E-D0B5-DD46-50F3C1B5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D8E0-7C06-4C7A-9A5A-B28CF27595EA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CC8040-F814-F0D3-AA83-D4F3DCD2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0B5E82-109B-AAAF-EDA5-28F50261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8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638A8-51A2-F46D-3E2B-7FAA5DAC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6E516-4E1E-7506-67EE-92485313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F2310-6BB5-E3B3-13C0-CB53D8C0C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B3CB93-F459-86C5-AA4D-954EFB22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CD39-BF78-44C4-BD8F-FBD7ECCEA878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794D08-3AD4-6498-5F01-18553961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D7FE08-0174-7DAA-BCEE-145EA765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41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1C4BF-9B30-EDDE-7038-19489283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658609-3E30-3411-5BDD-60DD30E9A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1E13CD-19FA-5A49-3CF1-54F5B5C01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1576D8-1B19-BA52-9E09-3BBE5815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7C87-DF5C-4101-891D-EB8423299BD8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885AB5-5890-67BD-E281-E18AE0CB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728BA1-73F9-6769-A1F3-F2784064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46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17B7E-3A34-A63F-40DC-C621A27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CA4FF0-4611-DB71-3808-DAF9D7620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7689F-2356-9549-AEFD-A6B92CCE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A4F69-EE30-4DE6-A95C-5A48F2571B0F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E1B81-715A-3778-7FCC-6170F127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089B82-89EC-D384-8CE2-9B80882A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0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0F1794-B95F-33FE-DDD1-635B8EFDD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90B79-DD50-AD29-1ADA-C2DA12925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AE1CE-C9BE-A078-BC7B-2CA306D9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C72A4-F9BE-4592-ACEA-76AD34D9E804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25181-1F91-F518-881F-F6DDD05B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C1042-DBDF-94DE-0324-958F9609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09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F93EAB-286D-3F42-1B62-E0D17B0F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3AACD5-D90B-9650-4C82-4002062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B2E01-6392-1114-BADF-56CA78707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CE7CD-7D1A-4D23-954C-A147719DA5D2}" type="datetime1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44EF5-FB95-8D08-EA96-91DCF4216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B66D6C-1897-F66B-A4EE-7C4EC38D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FF266-60CB-4CDF-874D-74B1CF889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BA05A-69B5-3BD6-8A46-6D0FAE9B0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538"/>
            <a:ext cx="9144000" cy="2387600"/>
          </a:xfrm>
        </p:spPr>
        <p:txBody>
          <a:bodyPr/>
          <a:lstStyle/>
          <a:p>
            <a:r>
              <a:rPr lang="fr-FR" altLang="zh-CN" b="1" dirty="0">
                <a:solidFill>
                  <a:srgbClr val="005FA1"/>
                </a:solidFill>
              </a:rPr>
              <a:t>Bilan de compétences </a:t>
            </a:r>
            <a:br>
              <a:rPr lang="fr-FR" altLang="zh-CN" b="1" dirty="0">
                <a:solidFill>
                  <a:srgbClr val="005FA1"/>
                </a:solidFill>
              </a:rPr>
            </a:br>
            <a:r>
              <a:rPr lang="fr-FR" altLang="zh-CN" b="1" dirty="0">
                <a:solidFill>
                  <a:srgbClr val="005FA1"/>
                </a:solidFill>
              </a:rPr>
              <a:t>et Projet professionnel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E51F92-0B18-F174-F0B5-A5176F997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27116"/>
            <a:ext cx="9144000" cy="914401"/>
          </a:xfrm>
        </p:spPr>
        <p:txBody>
          <a:bodyPr>
            <a:normAutofit/>
          </a:bodyPr>
          <a:lstStyle/>
          <a:p>
            <a:r>
              <a:rPr lang="en-US" altLang="zh-CN" dirty="0"/>
              <a:t>62705 </a:t>
            </a:r>
          </a:p>
          <a:p>
            <a:r>
              <a:rPr lang="en-US" altLang="zh-CN" dirty="0"/>
              <a:t>Xiaofan Guo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377CFD3-F7C7-FA0C-D42D-8582E9A27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50" y="626208"/>
            <a:ext cx="2910610" cy="122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85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23DAC-7F5F-5CF1-14FB-862B0473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"/>
            <a:ext cx="10515600" cy="1325563"/>
          </a:xfrm>
        </p:spPr>
        <p:txBody>
          <a:bodyPr/>
          <a:lstStyle/>
          <a:p>
            <a:r>
              <a:rPr lang="en-GB" altLang="zh-CN" b="1" dirty="0">
                <a:solidFill>
                  <a:srgbClr val="005FA1"/>
                </a:solidFill>
              </a:rPr>
              <a:t>Plan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856D3-331C-881D-5430-10DD774CE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altLang="zh-CN" dirty="0" err="1">
                <a:solidFill>
                  <a:srgbClr val="005FA1"/>
                </a:solidFill>
              </a:rPr>
              <a:t>Parcours</a:t>
            </a:r>
            <a:r>
              <a:rPr lang="en-GB" altLang="zh-CN" dirty="0">
                <a:solidFill>
                  <a:srgbClr val="005FA1"/>
                </a:solidFill>
              </a:rPr>
              <a:t> </a:t>
            </a:r>
            <a:r>
              <a:rPr lang="en-GB" altLang="zh-CN" dirty="0" err="1">
                <a:solidFill>
                  <a:srgbClr val="005FA1"/>
                </a:solidFill>
              </a:rPr>
              <a:t>académique</a:t>
            </a:r>
            <a:r>
              <a:rPr lang="en-GB" altLang="zh-CN" dirty="0">
                <a:solidFill>
                  <a:srgbClr val="005FA1"/>
                </a:solidFill>
              </a:rPr>
              <a:t> et experiences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altLang="zh-CN" dirty="0">
                <a:solidFill>
                  <a:srgbClr val="005FA1"/>
                </a:solidFill>
              </a:rPr>
              <a:t>Bilan de compétences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altLang="zh-CN" dirty="0">
                <a:solidFill>
                  <a:srgbClr val="005FA1"/>
                </a:solidFill>
              </a:rPr>
              <a:t>Écarts et axes de progrès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altLang="zh-CN" dirty="0" err="1">
                <a:solidFill>
                  <a:srgbClr val="005FA1"/>
                </a:solidFill>
              </a:rPr>
              <a:t>Projet</a:t>
            </a:r>
            <a:r>
              <a:rPr lang="en-GB" altLang="zh-CN" dirty="0">
                <a:solidFill>
                  <a:srgbClr val="005FA1"/>
                </a:solidFill>
              </a:rPr>
              <a:t> </a:t>
            </a:r>
            <a:r>
              <a:rPr lang="en-GB" altLang="zh-CN" dirty="0" err="1">
                <a:solidFill>
                  <a:srgbClr val="005FA1"/>
                </a:solidFill>
              </a:rPr>
              <a:t>professionnel</a:t>
            </a:r>
            <a:r>
              <a:rPr lang="en-GB" altLang="zh-CN" dirty="0">
                <a:solidFill>
                  <a:srgbClr val="005FA1"/>
                </a:solidFill>
              </a:rPr>
              <a:t> &amp; SWOT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altLang="zh-CN" dirty="0">
                <a:solidFill>
                  <a:srgbClr val="005FA1"/>
                </a:solidFill>
              </a:rPr>
              <a:t>CV &amp; Poste </a:t>
            </a:r>
            <a:r>
              <a:rPr lang="en-GB" altLang="zh-CN" dirty="0" err="1">
                <a:solidFill>
                  <a:srgbClr val="005FA1"/>
                </a:solidFill>
              </a:rPr>
              <a:t>visé</a:t>
            </a:r>
            <a:endParaRPr lang="zh-CN" altLang="en-US" dirty="0">
              <a:solidFill>
                <a:srgbClr val="005FA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89472DF-5896-CD4A-FAD4-728BCB54A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E481BB-5396-8046-2CC3-53D50FA5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7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6E60D-34E4-BD3E-8521-CCCBD744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b="1" noProof="0" dirty="0">
                <a:solidFill>
                  <a:srgbClr val="005FA1"/>
                </a:solidFill>
              </a:rPr>
              <a:t>1. Parcours académique et expériences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DA31E19-6125-093C-33EC-69F4E699D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组合 52">
            <a:extLst>
              <a:ext uri="{FF2B5EF4-FFF2-40B4-BE49-F238E27FC236}">
                <a16:creationId xmlns:a16="http://schemas.microsoft.com/office/drawing/2014/main" id="{C1679B10-653C-275D-4F41-07E4CDEC41DB}"/>
              </a:ext>
            </a:extLst>
          </p:cNvPr>
          <p:cNvGrpSpPr/>
          <p:nvPr/>
        </p:nvGrpSpPr>
        <p:grpSpPr>
          <a:xfrm>
            <a:off x="5223476" y="1603971"/>
            <a:ext cx="5570304" cy="830997"/>
            <a:chOff x="5223476" y="1603971"/>
            <a:chExt cx="5570304" cy="830997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0A5CED2-F872-94B6-04CD-A4DB3A2C5C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3476" y="1713006"/>
              <a:ext cx="1336121" cy="563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1905BE1-60C5-03B4-1BA1-46F5CB77079D}"/>
                </a:ext>
              </a:extLst>
            </p:cNvPr>
            <p:cNvSpPr txBox="1"/>
            <p:nvPr/>
          </p:nvSpPr>
          <p:spPr>
            <a:xfrm>
              <a:off x="6806176" y="1603971"/>
              <a:ext cx="398760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noProof="0" dirty="0">
                  <a:solidFill>
                    <a:srgbClr val="005FA1"/>
                  </a:solidFill>
                </a:rPr>
                <a:t>2022-2025  </a:t>
              </a:r>
            </a:p>
            <a:p>
              <a:r>
                <a:rPr lang="fr-FR" sz="1600" b="1" noProof="0" dirty="0">
                  <a:solidFill>
                    <a:srgbClr val="005FA1"/>
                  </a:solidFill>
                </a:rPr>
                <a:t>Diplôme d’Ingénieur</a:t>
              </a:r>
            </a:p>
            <a:p>
              <a:r>
                <a:rPr lang="fr-FR" sz="1600" i="1" noProof="0" dirty="0">
                  <a:solidFill>
                    <a:srgbClr val="005FA1"/>
                  </a:solidFill>
                </a:rPr>
                <a:t>Systèmes de communication sans fil et IoT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0442B45-F713-D6A4-2D2F-2C8CE9CB4399}"/>
              </a:ext>
            </a:extLst>
          </p:cNvPr>
          <p:cNvGrpSpPr/>
          <p:nvPr/>
        </p:nvGrpSpPr>
        <p:grpSpPr>
          <a:xfrm>
            <a:off x="2195421" y="1579440"/>
            <a:ext cx="2816643" cy="1015663"/>
            <a:chOff x="2195421" y="1579440"/>
            <a:chExt cx="2816643" cy="1015663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E4E5073-D75D-035F-1331-CDDCF5975136}"/>
                </a:ext>
              </a:extLst>
            </p:cNvPr>
            <p:cNvSpPr txBox="1"/>
            <p:nvPr/>
          </p:nvSpPr>
          <p:spPr>
            <a:xfrm>
              <a:off x="3006952" y="1579440"/>
              <a:ext cx="200511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noProof="0" dirty="0">
                  <a:solidFill>
                    <a:srgbClr val="00949F"/>
                  </a:solidFill>
                </a:rPr>
                <a:t>2018-2022 </a:t>
              </a:r>
            </a:p>
            <a:p>
              <a:r>
                <a:rPr lang="fr-FR" sz="1600" b="1" noProof="0" dirty="0">
                  <a:solidFill>
                    <a:srgbClr val="00949F"/>
                  </a:solidFill>
                </a:rPr>
                <a:t>Diplôme de Licence</a:t>
              </a:r>
            </a:p>
            <a:p>
              <a:r>
                <a:rPr lang="fr-FR" sz="1600" i="1" noProof="0" dirty="0">
                  <a:solidFill>
                    <a:srgbClr val="00949F"/>
                  </a:solidFill>
                </a:rPr>
                <a:t>Informatique</a:t>
              </a:r>
            </a:p>
            <a:p>
              <a:r>
                <a:rPr lang="fr-FR" sz="1200" i="1" dirty="0">
                  <a:solidFill>
                    <a:srgbClr val="00949F"/>
                  </a:solidFill>
                </a:rPr>
                <a:t>(Mention Très Bien)</a:t>
              </a:r>
              <a:endParaRPr lang="fr-FR" sz="1200" i="1" noProof="0" dirty="0">
                <a:solidFill>
                  <a:srgbClr val="00949F"/>
                </a:solidFill>
              </a:endParaRPr>
            </a:p>
          </p:txBody>
        </p:sp>
        <p:pic>
          <p:nvPicPr>
            <p:cNvPr id="1028" name="Picture 4" descr="Université Clermont Auvergne (UCA) - EOSC Association">
              <a:extLst>
                <a:ext uri="{FF2B5EF4-FFF2-40B4-BE49-F238E27FC236}">
                  <a16:creationId xmlns:a16="http://schemas.microsoft.com/office/drawing/2014/main" id="{E3B2F299-622F-9107-C495-7EEDAF9E4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421" y="1668275"/>
              <a:ext cx="666456" cy="645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F98DBE6-A6F2-4E3E-A416-3FF6A227C6E5}"/>
              </a:ext>
            </a:extLst>
          </p:cNvPr>
          <p:cNvGrpSpPr/>
          <p:nvPr/>
        </p:nvGrpSpPr>
        <p:grpSpPr>
          <a:xfrm>
            <a:off x="2137639" y="3039168"/>
            <a:ext cx="2874417" cy="849067"/>
            <a:chOff x="2137639" y="3039168"/>
            <a:chExt cx="2874417" cy="849067"/>
          </a:xfrm>
        </p:grpSpPr>
        <p:pic>
          <p:nvPicPr>
            <p:cNvPr id="1026" name="Picture 2" descr="Dongfeng东风汽车logo设计- 德启设计">
              <a:extLst>
                <a:ext uri="{FF2B5EF4-FFF2-40B4-BE49-F238E27FC236}">
                  <a16:creationId xmlns:a16="http://schemas.microsoft.com/office/drawing/2014/main" id="{F8678C2B-402F-548E-BE12-14A6C70DAB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60" r="11021"/>
            <a:stretch>
              <a:fillRect/>
            </a:stretch>
          </p:blipFill>
          <p:spPr bwMode="auto">
            <a:xfrm>
              <a:off x="2137639" y="3039168"/>
              <a:ext cx="724238" cy="774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AAB4E91-60FF-7E12-2228-30B86F705CD0}"/>
                </a:ext>
              </a:extLst>
            </p:cNvPr>
            <p:cNvSpPr txBox="1"/>
            <p:nvPr/>
          </p:nvSpPr>
          <p:spPr>
            <a:xfrm>
              <a:off x="3006951" y="3057238"/>
              <a:ext cx="200510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noProof="0" dirty="0">
                  <a:solidFill>
                    <a:srgbClr val="F60400"/>
                  </a:solidFill>
                </a:rPr>
                <a:t>Avr. – Juil. 2021 </a:t>
              </a:r>
            </a:p>
            <a:p>
              <a:r>
                <a:rPr lang="fr-FR" sz="1600" b="1" noProof="0" dirty="0">
                  <a:solidFill>
                    <a:srgbClr val="F60400"/>
                  </a:solidFill>
                </a:rPr>
                <a:t>Stagiaire</a:t>
              </a:r>
            </a:p>
            <a:p>
              <a:r>
                <a:rPr lang="fr-FR" sz="1600" i="1" noProof="0" dirty="0">
                  <a:solidFill>
                    <a:srgbClr val="F60400"/>
                  </a:solidFill>
                </a:rPr>
                <a:t>Conduite autonome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C522E61-AB80-3C3C-F60E-B344EC34E4FB}"/>
              </a:ext>
            </a:extLst>
          </p:cNvPr>
          <p:cNvGrpSpPr/>
          <p:nvPr/>
        </p:nvGrpSpPr>
        <p:grpSpPr>
          <a:xfrm>
            <a:off x="5491740" y="3082655"/>
            <a:ext cx="5389461" cy="831914"/>
            <a:chOff x="5491740" y="3082655"/>
            <a:chExt cx="5389461" cy="831914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4C974336-1E51-8068-519D-9CA5A90F9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1740" y="3082655"/>
              <a:ext cx="769441" cy="769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618017F-021D-588A-1829-57222F69D87F}"/>
                </a:ext>
              </a:extLst>
            </p:cNvPr>
            <p:cNvSpPr txBox="1"/>
            <p:nvPr/>
          </p:nvSpPr>
          <p:spPr>
            <a:xfrm>
              <a:off x="6377205" y="3083572"/>
              <a:ext cx="450399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noProof="0" dirty="0">
                  <a:solidFill>
                    <a:srgbClr val="FF7900"/>
                  </a:solidFill>
                </a:rPr>
                <a:t>Mars. – Sept. 2025</a:t>
              </a:r>
            </a:p>
            <a:p>
              <a:r>
                <a:rPr lang="fr-FR" sz="1600" b="1" noProof="0" dirty="0">
                  <a:solidFill>
                    <a:srgbClr val="FF7900"/>
                  </a:solidFill>
                </a:rPr>
                <a:t>Stagiaire Recherche</a:t>
              </a:r>
            </a:p>
            <a:p>
              <a:r>
                <a:rPr lang="fr-FR" sz="1600" i="1" noProof="0" dirty="0">
                  <a:solidFill>
                    <a:srgbClr val="FF7900"/>
                  </a:solidFill>
                </a:rPr>
                <a:t>Optimisation énergétique du cœur de réseau 5G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51D8676-0B4D-B228-D2AE-C009E2D316B8}"/>
              </a:ext>
            </a:extLst>
          </p:cNvPr>
          <p:cNvGrpSpPr/>
          <p:nvPr/>
        </p:nvGrpSpPr>
        <p:grpSpPr>
          <a:xfrm>
            <a:off x="5099269" y="4423806"/>
            <a:ext cx="5817952" cy="1048610"/>
            <a:chOff x="5099269" y="4423806"/>
            <a:chExt cx="5817952" cy="1048610"/>
          </a:xfrm>
        </p:grpSpPr>
        <p:pic>
          <p:nvPicPr>
            <p:cNvPr id="1032" name="Picture 8" descr="2024 Summer Olympics - Wikipedia">
              <a:extLst>
                <a:ext uri="{FF2B5EF4-FFF2-40B4-BE49-F238E27FC236}">
                  <a16:creationId xmlns:a16="http://schemas.microsoft.com/office/drawing/2014/main" id="{34FEB564-B5BA-71F1-7FCA-414A9C40E2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9269" y="4423806"/>
              <a:ext cx="917534" cy="1048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2024 Summer Paralympics - Wikipedia">
              <a:extLst>
                <a:ext uri="{FF2B5EF4-FFF2-40B4-BE49-F238E27FC236}">
                  <a16:creationId xmlns:a16="http://schemas.microsoft.com/office/drawing/2014/main" id="{FA6BC25B-3E6B-755E-0E8B-A2F022056F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1170" y="4423806"/>
              <a:ext cx="918368" cy="1045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1C0ABED-9D1F-2A10-685F-2D5ACA2EE556}"/>
                </a:ext>
              </a:extLst>
            </p:cNvPr>
            <p:cNvSpPr txBox="1"/>
            <p:nvPr/>
          </p:nvSpPr>
          <p:spPr>
            <a:xfrm>
              <a:off x="6183487" y="4623127"/>
              <a:ext cx="1810518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noProof="0" dirty="0"/>
                <a:t>Juil. – Août. 2024</a:t>
              </a:r>
            </a:p>
            <a:p>
              <a:r>
                <a:rPr lang="fr-FR" sz="1600" b="1" noProof="0" dirty="0"/>
                <a:t>Bénévole</a:t>
              </a:r>
            </a:p>
            <a:p>
              <a:r>
                <a:rPr lang="fr-FR" sz="1400" i="1" noProof="0" dirty="0"/>
                <a:t>Équipier IT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02467E9-BCB3-3EAD-A81D-B7C0B33386F4}"/>
                </a:ext>
              </a:extLst>
            </p:cNvPr>
            <p:cNvSpPr txBox="1"/>
            <p:nvPr/>
          </p:nvSpPr>
          <p:spPr>
            <a:xfrm>
              <a:off x="9106703" y="4562402"/>
              <a:ext cx="1810518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sz="1600" b="1" noProof="0" dirty="0"/>
                <a:t>Août.</a:t>
              </a:r>
              <a:r>
                <a:rPr lang="fr-FR" sz="1600" b="1" noProof="0" dirty="0"/>
                <a:t> – Sep. 2024</a:t>
              </a:r>
            </a:p>
            <a:p>
              <a:r>
                <a:rPr lang="fr-FR" sz="1600" b="1" noProof="0" dirty="0"/>
                <a:t>Bénévole</a:t>
              </a:r>
            </a:p>
            <a:p>
              <a:r>
                <a:rPr lang="fr-FR" sz="1400" i="1" noProof="0" dirty="0"/>
                <a:t>Comité mongol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4958E06-83B4-A25D-266F-616A7D51AC10}"/>
              </a:ext>
            </a:extLst>
          </p:cNvPr>
          <p:cNvGrpSpPr/>
          <p:nvPr/>
        </p:nvGrpSpPr>
        <p:grpSpPr>
          <a:xfrm>
            <a:off x="441836" y="1114978"/>
            <a:ext cx="11374572" cy="5189861"/>
            <a:chOff x="441836" y="1114978"/>
            <a:chExt cx="11374572" cy="5189861"/>
          </a:xfrm>
        </p:grpSpPr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72D9F682-3F0C-A749-69A6-9BF1D078DC00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82" y="5790216"/>
              <a:ext cx="9869626" cy="0"/>
            </a:xfrm>
            <a:prstGeom prst="straightConnector1">
              <a:avLst/>
            </a:prstGeom>
            <a:ln w="57150" cap="flat" cmpd="sng" algn="ctr">
              <a:solidFill>
                <a:srgbClr val="005FA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525F118-9BDF-A07F-9A55-2F7BDAF1D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782" y="1114978"/>
              <a:ext cx="0" cy="4704797"/>
            </a:xfrm>
            <a:prstGeom prst="straightConnector1">
              <a:avLst/>
            </a:prstGeom>
            <a:ln w="57150" cap="flat" cmpd="sng" algn="ctr">
              <a:solidFill>
                <a:srgbClr val="005FA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8FEA0EB-82D7-66EF-9104-277AF8E6C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5609" y="1451241"/>
              <a:ext cx="0" cy="4362634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2EA7E8A-36E8-14CE-BE31-4BB35A2DA2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8725" y="1451241"/>
              <a:ext cx="0" cy="4362634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8893179-35CC-E31E-3F20-43B273E9F163}"/>
                </a:ext>
              </a:extLst>
            </p:cNvPr>
            <p:cNvSpPr txBox="1"/>
            <p:nvPr/>
          </p:nvSpPr>
          <p:spPr>
            <a:xfrm>
              <a:off x="1602450" y="5899547"/>
              <a:ext cx="926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noProof="0" dirty="0">
                  <a:solidFill>
                    <a:srgbClr val="005FA1"/>
                  </a:solidFill>
                </a:rPr>
                <a:t>2018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CB1B8A3-A048-0E3A-97BC-99A129F18A6F}"/>
                </a:ext>
              </a:extLst>
            </p:cNvPr>
            <p:cNvSpPr txBox="1"/>
            <p:nvPr/>
          </p:nvSpPr>
          <p:spPr>
            <a:xfrm>
              <a:off x="4647516" y="5883086"/>
              <a:ext cx="926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noProof="0" dirty="0">
                  <a:solidFill>
                    <a:srgbClr val="005FA1"/>
                  </a:solidFill>
                </a:rPr>
                <a:t>2022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D1B1EA7-A719-0D3B-E9DA-716BDB756374}"/>
                </a:ext>
              </a:extLst>
            </p:cNvPr>
            <p:cNvSpPr txBox="1"/>
            <p:nvPr/>
          </p:nvSpPr>
          <p:spPr>
            <a:xfrm>
              <a:off x="10605876" y="5935507"/>
              <a:ext cx="926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noProof="0" dirty="0">
                  <a:solidFill>
                    <a:srgbClr val="005FA1"/>
                  </a:solidFill>
                </a:rPr>
                <a:t>2025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A30F214-5B96-E6E9-EC55-D5E15B81773B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82" y="2709770"/>
              <a:ext cx="9585293" cy="0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A836395-DF90-6FD8-9C08-ABAE18E7CBD4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82" y="4148229"/>
              <a:ext cx="9585293" cy="0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7060A5B-72DF-50EA-3E49-01483C68F11F}"/>
                </a:ext>
              </a:extLst>
            </p:cNvPr>
            <p:cNvSpPr txBox="1"/>
            <p:nvPr/>
          </p:nvSpPr>
          <p:spPr>
            <a:xfrm>
              <a:off x="441836" y="3272681"/>
              <a:ext cx="133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noProof="0" dirty="0">
                  <a:solidFill>
                    <a:srgbClr val="005FA1"/>
                  </a:solidFill>
                </a:rPr>
                <a:t>Expérience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22E19EA-94FE-C47E-EB87-8010EC4AD028}"/>
                </a:ext>
              </a:extLst>
            </p:cNvPr>
            <p:cNvSpPr txBox="1"/>
            <p:nvPr/>
          </p:nvSpPr>
          <p:spPr>
            <a:xfrm>
              <a:off x="454248" y="1902664"/>
              <a:ext cx="133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noProof="0" dirty="0">
                  <a:solidFill>
                    <a:srgbClr val="005FA1"/>
                  </a:solidFill>
                </a:rPr>
                <a:t>Formation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9A26853-9AE7-179E-C4DD-235FC54F79ED}"/>
                </a:ext>
              </a:extLst>
            </p:cNvPr>
            <p:cNvSpPr txBox="1"/>
            <p:nvPr/>
          </p:nvSpPr>
          <p:spPr>
            <a:xfrm>
              <a:off x="508323" y="4819499"/>
              <a:ext cx="133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rgbClr val="005FA1"/>
                  </a:solidFill>
                </a:rPr>
                <a:t>B</a:t>
              </a:r>
              <a:r>
                <a:rPr lang="fr-FR" b="1" noProof="0" dirty="0" err="1">
                  <a:solidFill>
                    <a:srgbClr val="005FA1"/>
                  </a:solidFill>
                </a:rPr>
                <a:t>én</a:t>
              </a:r>
              <a:r>
                <a:rPr lang="fr-FR" altLang="zh-CN" b="1" noProof="0" dirty="0" err="1">
                  <a:solidFill>
                    <a:srgbClr val="005FA1"/>
                  </a:solidFill>
                </a:rPr>
                <a:t>évolat</a:t>
              </a:r>
              <a:endParaRPr lang="fr-FR" b="1" noProof="0" dirty="0">
                <a:solidFill>
                  <a:srgbClr val="005FA1"/>
                </a:solidFill>
              </a:endParaRPr>
            </a:p>
          </p:txBody>
        </p:sp>
      </p:grpSp>
      <p:sp>
        <p:nvSpPr>
          <p:cNvPr id="56" name="灯片编号占位符 55">
            <a:extLst>
              <a:ext uri="{FF2B5EF4-FFF2-40B4-BE49-F238E27FC236}">
                <a16:creationId xmlns:a16="http://schemas.microsoft.com/office/drawing/2014/main" id="{3D8C200E-602D-BAC1-ECED-CD02380B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24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F8DA6-26CA-637A-F8FA-33C7DB86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0"/>
            <a:ext cx="10515600" cy="1325563"/>
          </a:xfrm>
        </p:spPr>
        <p:txBody>
          <a:bodyPr/>
          <a:lstStyle/>
          <a:p>
            <a:r>
              <a:rPr lang="fr-FR" b="1" noProof="0" dirty="0">
                <a:solidFill>
                  <a:srgbClr val="005FA1"/>
                </a:solidFill>
              </a:rPr>
              <a:t>2.1 Compétences spécialisées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6C35EA-D3BB-ADD3-6517-8B1B63512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0" y="1336733"/>
            <a:ext cx="10675374" cy="503838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1200"/>
              </a:spcBef>
              <a:buAutoNum type="arabicPeriod"/>
            </a:pPr>
            <a:r>
              <a:rPr lang="fr-FR" b="1" noProof="0" dirty="0">
                <a:solidFill>
                  <a:srgbClr val="005FA1"/>
                </a:solidFill>
              </a:rPr>
              <a:t>Résolution de problèmes techniques complexes</a:t>
            </a:r>
          </a:p>
          <a:p>
            <a:pPr lvl="1">
              <a:lnSpc>
                <a:spcPct val="100000"/>
              </a:lnSpc>
            </a:pPr>
            <a:r>
              <a:rPr lang="fr-FR" sz="1600" noProof="0" dirty="0"/>
              <a:t>Exemple : Projet Système de capteurs → développement d’une application Android intégrée avec Bluetooth.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1800" b="1" dirty="0"/>
              <a:t>Capacité à résoudre des problèmes complexes et multidisciplinaires</a:t>
            </a:r>
            <a:r>
              <a:rPr lang="fr-FR" sz="1800" b="1" noProof="0" dirty="0"/>
              <a:t>.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Conception et mise en œuvre de systèmes techniques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Exemple : Projet TIVA – Système environnemental → câblage matériel, tests, intégration logicielle.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Expérience en conception modulaire et systèmes embarqués.</a:t>
            </a:r>
            <a:endParaRPr lang="fr-FR" sz="1800" b="1" noProof="0" dirty="0"/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Travail en mode projet – MOA / MOE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Exemple : Projet Gestion de bibliothèque → conception de la base de données, intégration </a:t>
            </a:r>
            <a:r>
              <a:rPr kumimoji="0" lang="fr-FR" altLang="zh-C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front-end</a:t>
            </a: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/</a:t>
            </a:r>
            <a:r>
              <a:rPr kumimoji="0" lang="fr-FR" altLang="zh-C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back-end</a:t>
            </a: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Compréhension du cycle complet de projet (analyse fonctionnelle → réalisation technique).</a:t>
            </a:r>
            <a:endParaRPr lang="fr-FR" sz="1800" b="1" noProof="0" dirty="0"/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Méthodes de recherche et application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Exemple : Projet Indoor </a:t>
            </a:r>
            <a:r>
              <a:rPr kumimoji="0" lang="fr-FR" altLang="zh-C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Localization</a:t>
            </a:r>
            <a:r>
              <a:rPr kumimoji="0" lang="fr-FR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 DNN/GNN → modélisation, entraînement et évaluation de modèles ML.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Capacité à appliquer une démarche scientifique et produire des résultats valorisables.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8015EFA-727D-CCA2-45FD-F26B75154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形 5" descr="研究 纯色填充">
            <a:extLst>
              <a:ext uri="{FF2B5EF4-FFF2-40B4-BE49-F238E27FC236}">
                <a16:creationId xmlns:a16="http://schemas.microsoft.com/office/drawing/2014/main" id="{B486840B-14A8-D261-4119-9EAAE870E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390" y="5024776"/>
            <a:ext cx="540000" cy="540000"/>
          </a:xfrm>
          <a:prstGeom prst="rect">
            <a:avLst/>
          </a:prstGeom>
        </p:spPr>
      </p:pic>
      <p:pic>
        <p:nvPicPr>
          <p:cNvPr id="8" name="图形 7" descr="周期图 纯色填充">
            <a:extLst>
              <a:ext uri="{FF2B5EF4-FFF2-40B4-BE49-F238E27FC236}">
                <a16:creationId xmlns:a16="http://schemas.microsoft.com/office/drawing/2014/main" id="{B5BD718C-7545-2DC7-CDCE-9EAB88C3B5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390" y="3757480"/>
            <a:ext cx="540000" cy="540000"/>
          </a:xfrm>
          <a:prstGeom prst="rect">
            <a:avLst/>
          </a:prstGeom>
        </p:spPr>
      </p:pic>
      <p:pic>
        <p:nvPicPr>
          <p:cNvPr id="10" name="图形 9" descr="处理器 纯色填充">
            <a:extLst>
              <a:ext uri="{FF2B5EF4-FFF2-40B4-BE49-F238E27FC236}">
                <a16:creationId xmlns:a16="http://schemas.microsoft.com/office/drawing/2014/main" id="{9A503B66-4D06-BB18-9410-5DFC7C1908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390" y="2579904"/>
            <a:ext cx="540000" cy="540000"/>
          </a:xfrm>
          <a:prstGeom prst="rect">
            <a:avLst/>
          </a:prstGeom>
        </p:spPr>
      </p:pic>
      <p:pic>
        <p:nvPicPr>
          <p:cNvPr id="12" name="图形 11" descr="并购 纯色填充">
            <a:extLst>
              <a:ext uri="{FF2B5EF4-FFF2-40B4-BE49-F238E27FC236}">
                <a16:creationId xmlns:a16="http://schemas.microsoft.com/office/drawing/2014/main" id="{C8FE6CA4-7A56-A5A9-B7E2-D69BE1D52B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390" y="1336733"/>
            <a:ext cx="540000" cy="540000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0DE5AE08-1582-94D6-17E7-1750FA47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44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4F5DE-69EF-9CC2-85F4-EDEEEE9F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6"/>
            <a:ext cx="10515600" cy="1325563"/>
          </a:xfrm>
        </p:spPr>
        <p:txBody>
          <a:bodyPr/>
          <a:lstStyle/>
          <a:p>
            <a:r>
              <a:rPr lang="en-GB" altLang="zh-CN" b="1" dirty="0">
                <a:solidFill>
                  <a:srgbClr val="005FA1"/>
                </a:solidFill>
              </a:rPr>
              <a:t>2.2 </a:t>
            </a:r>
            <a:r>
              <a:rPr lang="en-GB" altLang="zh-CN" b="1" dirty="0" err="1">
                <a:solidFill>
                  <a:srgbClr val="005FA1"/>
                </a:solidFill>
              </a:rPr>
              <a:t>Compétences</a:t>
            </a:r>
            <a:r>
              <a:rPr lang="en-GB" altLang="zh-CN" b="1" dirty="0">
                <a:solidFill>
                  <a:srgbClr val="005FA1"/>
                </a:solidFill>
              </a:rPr>
              <a:t> </a:t>
            </a:r>
            <a:r>
              <a:rPr lang="en-GB" altLang="zh-CN" b="1" dirty="0" err="1">
                <a:solidFill>
                  <a:srgbClr val="005FA1"/>
                </a:solidFill>
              </a:rPr>
              <a:t>générales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162DE68-2BD9-F267-E70F-EE4083476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CF0CFE-E171-5490-DAD5-BEC3EDEEEBB7}"/>
              </a:ext>
            </a:extLst>
          </p:cNvPr>
          <p:cNvSpPr txBox="1">
            <a:spLocks/>
          </p:cNvSpPr>
          <p:nvPr/>
        </p:nvSpPr>
        <p:spPr>
          <a:xfrm>
            <a:off x="1042428" y="1324927"/>
            <a:ext cx="10712737" cy="5038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Travail en équipe et coordination</a:t>
            </a:r>
          </a:p>
          <a:p>
            <a:pPr lvl="1">
              <a:lnSpc>
                <a:spcPct val="100000"/>
              </a:lnSpc>
            </a:pPr>
            <a:r>
              <a:rPr lang="fr-FR" sz="1600" dirty="0"/>
              <a:t>Exemple : Participation à des projets de groupe à l’ISEP et bénévolat aux Jeux Olympiques/Paralympiques.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1800" b="1" dirty="0"/>
              <a:t>Capacité à collaborer efficacement en équipe dans un contexte multiculturel.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Communication et expression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600" dirty="0">
                <a:solidFill>
                  <a:prstClr val="black"/>
                </a:solidFill>
                <a:latin typeface="等线" panose="02110004020202020204"/>
              </a:rPr>
              <a:t>Exemple </a:t>
            </a:r>
            <a:r>
              <a:rPr lang="fr-FR" altLang="zh-CN" sz="1600" dirty="0">
                <a:solidFill>
                  <a:prstClr val="black"/>
                </a:solidFill>
              </a:rPr>
              <a:t>: Présentations en français et en anglais dans différents projets académiques.</a:t>
            </a:r>
            <a:endParaRPr lang="fr-FR" altLang="zh-CN" sz="1600" dirty="0">
              <a:solidFill>
                <a:prstClr val="black"/>
              </a:solidFill>
              <a:latin typeface="等线" panose="02110004020202020204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fr-FR" altLang="zh-CN" sz="1800" b="1" dirty="0">
                <a:solidFill>
                  <a:prstClr val="black"/>
                </a:solidFill>
              </a:rPr>
              <a:t>Communication technique claire et adaptée.</a:t>
            </a:r>
            <a:endParaRPr lang="fr-FR" sz="1800" b="1" dirty="0"/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Sens des responsabilités et autonomie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600" dirty="0">
                <a:solidFill>
                  <a:prstClr val="black"/>
                </a:solidFill>
                <a:latin typeface="等线" panose="02110004020202020204"/>
              </a:rPr>
              <a:t>Exemple </a:t>
            </a:r>
            <a:r>
              <a:rPr lang="fr-FR" altLang="zh-CN" sz="1600" dirty="0">
                <a:solidFill>
                  <a:prstClr val="black"/>
                </a:solidFill>
              </a:rPr>
              <a:t>: Décision de changer d’université (UCA → ISEP) et gestion autonome de plusieurs projets académiques.</a:t>
            </a:r>
            <a:endParaRPr lang="fr-FR" altLang="zh-CN" sz="1600" dirty="0">
              <a:solidFill>
                <a:prstClr val="black"/>
              </a:solidFill>
              <a:latin typeface="等线" panose="02110004020202020204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fr-FR" altLang="zh-CN" sz="1800" b="1" dirty="0">
                <a:solidFill>
                  <a:prstClr val="black"/>
                </a:solidFill>
              </a:rPr>
              <a:t>Démonstration d’un sens des responsabilités et d’une autonomie dans la prise de décisions.</a:t>
            </a:r>
            <a:endParaRPr lang="fr-FR" sz="1800" b="1" dirty="0"/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Esprit d’innovation et d’initiative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600" dirty="0">
                <a:solidFill>
                  <a:prstClr val="black"/>
                </a:solidFill>
                <a:latin typeface="等线" panose="02110004020202020204"/>
              </a:rPr>
              <a:t>Exemple </a:t>
            </a:r>
            <a:r>
              <a:rPr lang="fr-FR" altLang="zh-CN" sz="1600" dirty="0">
                <a:solidFill>
                  <a:prstClr val="black"/>
                </a:solidFill>
              </a:rPr>
              <a:t>: Ajout de fonctionnalités supplémentaires dans les projets (application Android).</a:t>
            </a:r>
            <a:endParaRPr lang="fr-FR" altLang="zh-CN" sz="1600" dirty="0">
              <a:solidFill>
                <a:prstClr val="black"/>
              </a:solidFill>
              <a:latin typeface="等线" panose="02110004020202020204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fr-FR" altLang="zh-CN" sz="1800" b="1" dirty="0">
                <a:solidFill>
                  <a:prstClr val="black"/>
                </a:solidFill>
              </a:rPr>
              <a:t>Capacité à innover et à prendre des initiatives pour améliorer la qualité d’un projet.</a:t>
            </a:r>
            <a:endParaRPr lang="fr-FR" altLang="zh-CN" sz="1800" b="1" dirty="0">
              <a:solidFill>
                <a:prstClr val="black"/>
              </a:solidFill>
              <a:latin typeface="等线" panose="02110004020202020204"/>
            </a:endParaRPr>
          </a:p>
        </p:txBody>
      </p:sp>
      <p:pic>
        <p:nvPicPr>
          <p:cNvPr id="7" name="图形 6" descr="拼图 纯色填充">
            <a:extLst>
              <a:ext uri="{FF2B5EF4-FFF2-40B4-BE49-F238E27FC236}">
                <a16:creationId xmlns:a16="http://schemas.microsoft.com/office/drawing/2014/main" id="{EFE2A082-29DF-B4CA-C175-4F0361C99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835" y="5119570"/>
            <a:ext cx="540000" cy="540000"/>
          </a:xfrm>
          <a:prstGeom prst="rect">
            <a:avLst/>
          </a:prstGeom>
        </p:spPr>
      </p:pic>
      <p:pic>
        <p:nvPicPr>
          <p:cNvPr id="9" name="图形 8" descr="映像 纯色填充">
            <a:extLst>
              <a:ext uri="{FF2B5EF4-FFF2-40B4-BE49-F238E27FC236}">
                <a16:creationId xmlns:a16="http://schemas.microsoft.com/office/drawing/2014/main" id="{8705D87B-E7C4-154E-AC83-437D94808C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835" y="3844121"/>
            <a:ext cx="540000" cy="540000"/>
          </a:xfrm>
          <a:prstGeom prst="rect">
            <a:avLst/>
          </a:prstGeom>
        </p:spPr>
      </p:pic>
      <p:pic>
        <p:nvPicPr>
          <p:cNvPr id="11" name="图形 10" descr="语音 纯色填充">
            <a:extLst>
              <a:ext uri="{FF2B5EF4-FFF2-40B4-BE49-F238E27FC236}">
                <a16:creationId xmlns:a16="http://schemas.microsoft.com/office/drawing/2014/main" id="{A737D2D9-BBF9-81AE-1FA5-52F325B0A7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835" y="2568672"/>
            <a:ext cx="540000" cy="540000"/>
          </a:xfrm>
          <a:prstGeom prst="rect">
            <a:avLst/>
          </a:prstGeom>
        </p:spPr>
      </p:pic>
      <p:pic>
        <p:nvPicPr>
          <p:cNvPr id="13" name="图形 12" descr="人群 纯色填充">
            <a:extLst>
              <a:ext uri="{FF2B5EF4-FFF2-40B4-BE49-F238E27FC236}">
                <a16:creationId xmlns:a16="http://schemas.microsoft.com/office/drawing/2014/main" id="{A551A7B8-EA8D-7B2A-4D04-9B2828922F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835" y="1401615"/>
            <a:ext cx="540000" cy="540000"/>
          </a:xfrm>
          <a:prstGeom prst="rect">
            <a:avLst/>
          </a:prstGeom>
        </p:spPr>
      </p:pic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21ACFC4-C029-85AA-3BE6-FF21A27E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9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11E3B-DD38-AD78-CD47-235886D2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4"/>
            <a:ext cx="10515600" cy="1325563"/>
          </a:xfrm>
        </p:spPr>
        <p:txBody>
          <a:bodyPr/>
          <a:lstStyle/>
          <a:p>
            <a:r>
              <a:rPr lang="fr-FR" altLang="zh-CN" b="1" dirty="0">
                <a:solidFill>
                  <a:srgbClr val="005FA1"/>
                </a:solidFill>
              </a:rPr>
              <a:t>3. Écarts et axes de progrès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86CA004-2290-72B4-2F41-C226C2ACF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1D6C74A-7520-978B-E9B1-0D299D6DBCA4}"/>
              </a:ext>
            </a:extLst>
          </p:cNvPr>
          <p:cNvSpPr txBox="1">
            <a:spLocks/>
          </p:cNvSpPr>
          <p:nvPr/>
        </p:nvSpPr>
        <p:spPr>
          <a:xfrm>
            <a:off x="1856539" y="1645001"/>
            <a:ext cx="8679709" cy="4090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Expression orale en français et en anglais</a:t>
            </a:r>
          </a:p>
          <a:p>
            <a:pPr lvl="1">
              <a:lnSpc>
                <a:spcPct val="100000"/>
              </a:lnSpc>
            </a:pPr>
            <a:r>
              <a:rPr lang="fr-FR" sz="1600" dirty="0"/>
              <a:t>Exemple : Difficultés à s’exprimer librement lors des échanges quotidiens en stage.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1800" b="1" dirty="0"/>
              <a:t>Améliorer la communication multilingue, quotidienne et professionnelle.</a:t>
            </a:r>
          </a:p>
          <a:p>
            <a:pPr marL="514350" indent="-5143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Gestion du stress face aux problèmes techniques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600" dirty="0">
                <a:solidFill>
                  <a:prstClr val="black"/>
                </a:solidFill>
                <a:latin typeface="等线" panose="02110004020202020204"/>
              </a:rPr>
              <a:t>Exemple </a:t>
            </a:r>
            <a:r>
              <a:rPr lang="fr-FR" altLang="zh-CN" sz="1600" dirty="0">
                <a:solidFill>
                  <a:prstClr val="black"/>
                </a:solidFill>
              </a:rPr>
              <a:t>: Gestion du stress face aux imprévus techniques.</a:t>
            </a:r>
            <a:endParaRPr lang="fr-FR" altLang="zh-CN" sz="1600" dirty="0">
              <a:solidFill>
                <a:prstClr val="black"/>
              </a:solidFill>
              <a:latin typeface="等线" panose="02110004020202020204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fr-FR" altLang="zh-CN" sz="1800" b="1" dirty="0">
                <a:solidFill>
                  <a:prstClr val="black"/>
                </a:solidFill>
              </a:rPr>
              <a:t>Adopter une approche plus calme et méthodique face aux contraintes.</a:t>
            </a:r>
            <a:endParaRPr lang="fr-FR" sz="1800" b="1" dirty="0"/>
          </a:p>
          <a:p>
            <a:pPr marL="514350" indent="-5143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AutoNum type="arabicPeriod"/>
            </a:pPr>
            <a:r>
              <a:rPr lang="fr-FR" b="1" dirty="0">
                <a:solidFill>
                  <a:srgbClr val="005FA1"/>
                </a:solidFill>
              </a:rPr>
              <a:t>Expérience industrielle limitée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600" dirty="0">
                <a:solidFill>
                  <a:prstClr val="black"/>
                </a:solidFill>
                <a:latin typeface="等线" panose="02110004020202020204"/>
              </a:rPr>
              <a:t>Exemple </a:t>
            </a:r>
            <a:r>
              <a:rPr lang="fr-FR" altLang="zh-CN" sz="1600" dirty="0">
                <a:solidFill>
                  <a:prstClr val="black"/>
                </a:solidFill>
              </a:rPr>
              <a:t>: Première immersion en entreprise, avec un sujet orienté surtout recherche.</a:t>
            </a:r>
            <a:endParaRPr lang="fr-FR" altLang="zh-CN" sz="1600" dirty="0">
              <a:solidFill>
                <a:prstClr val="black"/>
              </a:solidFill>
              <a:latin typeface="等线" panose="02110004020202020204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fr-FR" altLang="zh-CN" sz="1800" b="1" dirty="0">
                <a:solidFill>
                  <a:prstClr val="black"/>
                </a:solidFill>
              </a:rPr>
              <a:t>Développer davantage de pratiques et collaborations industrielles.</a:t>
            </a:r>
            <a:endParaRPr lang="fr-FR" sz="1800" b="1" dirty="0"/>
          </a:p>
        </p:txBody>
      </p:sp>
      <p:pic>
        <p:nvPicPr>
          <p:cNvPr id="7" name="图形 6" descr="居家办公房 纯色填充">
            <a:extLst>
              <a:ext uri="{FF2B5EF4-FFF2-40B4-BE49-F238E27FC236}">
                <a16:creationId xmlns:a16="http://schemas.microsoft.com/office/drawing/2014/main" id="{1C23B7FD-7CC1-EA63-5E4D-D2F53BF34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539" y="4470234"/>
            <a:ext cx="720000" cy="720000"/>
          </a:xfrm>
          <a:prstGeom prst="rect">
            <a:avLst/>
          </a:prstGeom>
        </p:spPr>
      </p:pic>
      <p:pic>
        <p:nvPicPr>
          <p:cNvPr id="9" name="图形 8" descr="流汗的露齿笑脸轮廓 纯色填充">
            <a:extLst>
              <a:ext uri="{FF2B5EF4-FFF2-40B4-BE49-F238E27FC236}">
                <a16:creationId xmlns:a16="http://schemas.microsoft.com/office/drawing/2014/main" id="{67BB6E07-8581-FC15-0086-81863CACDA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539" y="3057617"/>
            <a:ext cx="720000" cy="720000"/>
          </a:xfrm>
          <a:prstGeom prst="rect">
            <a:avLst/>
          </a:prstGeom>
        </p:spPr>
      </p:pic>
      <p:pic>
        <p:nvPicPr>
          <p:cNvPr id="11" name="图形 10" descr="聊天气泡 纯色填充">
            <a:extLst>
              <a:ext uri="{FF2B5EF4-FFF2-40B4-BE49-F238E27FC236}">
                <a16:creationId xmlns:a16="http://schemas.microsoft.com/office/drawing/2014/main" id="{4CC4A948-BDF1-78E8-D1CA-EA31F044AA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6539" y="1645001"/>
            <a:ext cx="720000" cy="720000"/>
          </a:xfrm>
          <a:prstGeom prst="rect">
            <a:avLst/>
          </a:prstGeom>
        </p:spPr>
      </p:pic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5569F2D-D2BB-A8E5-283A-C5129C42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23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4ACFB-9F1A-02EB-3590-BB51F724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3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>
                <a:solidFill>
                  <a:srgbClr val="005FA1"/>
                </a:solidFill>
              </a:rPr>
              <a:t>4.1 Projet professionnel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D9BA4-722D-86A8-204F-50384A93B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9" y="1988466"/>
            <a:ext cx="6618584" cy="13255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altLang="zh-CN" sz="2200" b="1" dirty="0">
                <a:solidFill>
                  <a:srgbClr val="005FA1"/>
                </a:solidFill>
              </a:rPr>
              <a:t>Objectifs à court terme (cette année) </a:t>
            </a:r>
            <a:endParaRPr lang="fr-FR" altLang="zh-CN" sz="2200" dirty="0">
              <a:solidFill>
                <a:srgbClr val="005FA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Finaliser et soumettre l’article scientifique réalisé à l’ISEP.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Terminer le stage chez ORANGE.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Réussir l’examen TOEIC et obtenir le diplôme d’ingénieur.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18EF21E-B5C0-CCE1-1BBE-B6A847A8F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386DCC-1DBC-66A1-296A-A73A1688CBD7}"/>
              </a:ext>
            </a:extLst>
          </p:cNvPr>
          <p:cNvSpPr txBox="1"/>
          <p:nvPr/>
        </p:nvSpPr>
        <p:spPr>
          <a:xfrm>
            <a:off x="407549" y="3971659"/>
            <a:ext cx="67739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altLang="zh-CN" sz="2200" b="1" dirty="0">
                <a:solidFill>
                  <a:srgbClr val="005FA1"/>
                </a:solidFill>
              </a:rPr>
              <a:t>Objectifs à moyen terme (dans 3–4 ans)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Préparer un doctorat en réseaux de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Publier au moins trois articles scientifiques durant la thèse.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3C77BF-1C4D-6265-F2BC-0ED14F611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69740" y="2432816"/>
            <a:ext cx="3008670" cy="4259126"/>
          </a:xfrm>
          <a:prstGeom prst="rect">
            <a:avLst/>
          </a:prstGeom>
        </p:spPr>
      </p:pic>
      <p:pic>
        <p:nvPicPr>
          <p:cNvPr id="12" name="图片 11" descr="手机屏幕截图&#10;&#10;AI 生成的内容可能不正确。">
            <a:extLst>
              <a:ext uri="{FF2B5EF4-FFF2-40B4-BE49-F238E27FC236}">
                <a16:creationId xmlns:a16="http://schemas.microsoft.com/office/drawing/2014/main" id="{F52E5044-1F36-9039-B712-42324E4DC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133" y="1218305"/>
            <a:ext cx="4552864" cy="1177674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837BE2AC-2C76-8532-184A-6A67DAB5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10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337D6-4E29-20D1-0091-B6EBFC7E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CA871-2471-80ED-BB1C-1978FD1D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3"/>
            <a:ext cx="10515600" cy="1325563"/>
          </a:xfrm>
        </p:spPr>
        <p:txBody>
          <a:bodyPr>
            <a:normAutofit/>
          </a:bodyPr>
          <a:lstStyle/>
          <a:p>
            <a:r>
              <a:rPr lang="fr-FR" b="1" noProof="0" dirty="0">
                <a:solidFill>
                  <a:srgbClr val="005FA1"/>
                </a:solidFill>
              </a:rPr>
              <a:t>4.2 SWOT – Analyse personnelle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43CC8-C752-6035-5ED7-1C219A52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323"/>
            <a:ext cx="7273411" cy="13255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altLang="zh-CN" sz="2200" b="1" dirty="0">
                <a:solidFill>
                  <a:srgbClr val="005FA1"/>
                </a:solidFill>
              </a:rPr>
              <a:t>Forces (Forces) </a:t>
            </a:r>
            <a:endParaRPr lang="fr-FR" altLang="zh-CN" sz="2200" dirty="0">
              <a:solidFill>
                <a:srgbClr val="005FA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Base solide en réseaux et systèmes IoT.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Expérience scientifique significative, avec autonomie et initiative.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AA5FBB7-9549-9534-7367-5CE89698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916418-45E6-C64E-5457-5315C93C8AF3}"/>
              </a:ext>
            </a:extLst>
          </p:cNvPr>
          <p:cNvSpPr txBox="1"/>
          <p:nvPr/>
        </p:nvSpPr>
        <p:spPr>
          <a:xfrm>
            <a:off x="838200" y="2676899"/>
            <a:ext cx="677393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altLang="zh-CN" sz="2200" b="1" dirty="0">
                <a:solidFill>
                  <a:srgbClr val="005FA1"/>
                </a:solidFill>
              </a:rPr>
              <a:t>Faiblesses (Faiblesses)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Expression orale multilingue à renforcer.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Gestion psychologique parfois instable face aux imprévus.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7361FF-3699-9A60-83F5-9648D8D07E73}"/>
              </a:ext>
            </a:extLst>
          </p:cNvPr>
          <p:cNvSpPr txBox="1"/>
          <p:nvPr/>
        </p:nvSpPr>
        <p:spPr>
          <a:xfrm>
            <a:off x="838199" y="3884475"/>
            <a:ext cx="814070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altLang="zh-CN" sz="2200" b="1" dirty="0">
                <a:solidFill>
                  <a:srgbClr val="005FA1"/>
                </a:solidFill>
              </a:rPr>
              <a:t>Opportunités (Opportunités)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Développement des projets internationaux et interdisciplinaires.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Compétences linguistiques comme atout dans un contexte international.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FE9C45-7AB5-81DF-95D0-1C95C45A4A90}"/>
              </a:ext>
            </a:extLst>
          </p:cNvPr>
          <p:cNvSpPr txBox="1"/>
          <p:nvPr/>
        </p:nvSpPr>
        <p:spPr>
          <a:xfrm>
            <a:off x="838198" y="5092051"/>
            <a:ext cx="753298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fr-FR" altLang="zh-CN" sz="2200" b="1" dirty="0">
                <a:solidFill>
                  <a:srgbClr val="005FA1"/>
                </a:solidFill>
              </a:rPr>
              <a:t>Menaces (Menaces)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Forte concurrence pour les postes doctoraux.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Exigences linguistiques élevées dans le contexte international.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95ACD9-AA4C-FC36-DA72-A157E686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57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DD74B-54A9-57D5-BE02-ABE7701B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0"/>
            <a:ext cx="10515600" cy="1325563"/>
          </a:xfrm>
        </p:spPr>
        <p:txBody>
          <a:bodyPr/>
          <a:lstStyle/>
          <a:p>
            <a:r>
              <a:rPr lang="en-GB" altLang="zh-CN" b="1" dirty="0">
                <a:solidFill>
                  <a:srgbClr val="005FA1"/>
                </a:solidFill>
              </a:rPr>
              <a:t>5.1 CV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pic>
        <p:nvPicPr>
          <p:cNvPr id="6" name="内容占位符 5" descr="表格&#10;&#10;AI 生成的内容可能不正确。">
            <a:extLst>
              <a:ext uri="{FF2B5EF4-FFF2-40B4-BE49-F238E27FC236}">
                <a16:creationId xmlns:a16="http://schemas.microsoft.com/office/drawing/2014/main" id="{7D6385D2-10FD-046F-069C-754BC622C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2" y="1285628"/>
            <a:ext cx="3773614" cy="5342777"/>
          </a:xfr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6488A02-1433-EC71-B243-259DD65F9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0EB853-4630-4238-00CE-048D9F15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09E556B-468E-11FC-CCDD-46827259C6E5}"/>
              </a:ext>
            </a:extLst>
          </p:cNvPr>
          <p:cNvSpPr txBox="1">
            <a:spLocks/>
          </p:cNvSpPr>
          <p:nvPr/>
        </p:nvSpPr>
        <p:spPr>
          <a:xfrm>
            <a:off x="4247536" y="1923474"/>
            <a:ext cx="7411063" cy="437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sz="2000" b="1" dirty="0">
                <a:solidFill>
                  <a:srgbClr val="005FA1"/>
                </a:solidFill>
              </a:rPr>
              <a:t>Compétences techniques (Hard </a:t>
            </a:r>
            <a:r>
              <a:rPr lang="fr-FR" sz="2000" b="1" dirty="0" err="1">
                <a:solidFill>
                  <a:srgbClr val="005FA1"/>
                </a:solidFill>
              </a:rPr>
              <a:t>skills</a:t>
            </a:r>
            <a:r>
              <a:rPr lang="fr-FR" sz="2000" b="1" dirty="0">
                <a:solidFill>
                  <a:srgbClr val="005FA1"/>
                </a:solidFill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fr-FR" sz="1400" dirty="0"/>
              <a:t>Réseaux &amp; Télécoms : 4G/5G/6G, IoT</a:t>
            </a:r>
          </a:p>
          <a:p>
            <a:pPr lvl="1">
              <a:lnSpc>
                <a:spcPct val="100000"/>
              </a:lnSpc>
            </a:pPr>
            <a:r>
              <a:rPr lang="fr-FR" sz="1400" dirty="0"/>
              <a:t>Programmation : Python, Java, C++, </a:t>
            </a:r>
            <a:r>
              <a:rPr lang="fr-FR" sz="1400" dirty="0" err="1"/>
              <a:t>PyTorch</a:t>
            </a:r>
            <a:endParaRPr lang="fr-FR" sz="1400" dirty="0"/>
          </a:p>
          <a:p>
            <a:pPr lvl="1">
              <a:lnSpc>
                <a:spcPct val="100000"/>
              </a:lnSpc>
            </a:pPr>
            <a:r>
              <a:rPr lang="fr-FR" sz="1400" dirty="0"/>
              <a:t>DevOps &amp; Cloud : Docker, </a:t>
            </a:r>
            <a:r>
              <a:rPr lang="fr-FR" sz="1400" dirty="0" err="1"/>
              <a:t>Kubernetes</a:t>
            </a:r>
            <a:r>
              <a:rPr lang="fr-FR" sz="1400" dirty="0"/>
              <a:t>, </a:t>
            </a:r>
            <a:r>
              <a:rPr lang="fr-FR" sz="1400" dirty="0" err="1"/>
              <a:t>Helm</a:t>
            </a:r>
            <a:r>
              <a:rPr lang="fr-FR" sz="1400" dirty="0"/>
              <a:t>, Git</a:t>
            </a:r>
          </a:p>
          <a:p>
            <a:pPr lvl="1">
              <a:lnSpc>
                <a:spcPct val="100000"/>
              </a:lnSpc>
            </a:pPr>
            <a:r>
              <a:rPr lang="fr-FR" sz="1400" dirty="0"/>
              <a:t>Monitoring &amp; Analyse : </a:t>
            </a:r>
            <a:r>
              <a:rPr lang="fr-FR" sz="1400" dirty="0" err="1"/>
              <a:t>Prometheus</a:t>
            </a:r>
            <a:r>
              <a:rPr lang="fr-FR" sz="1400" dirty="0"/>
              <a:t>, </a:t>
            </a:r>
            <a:r>
              <a:rPr lang="fr-FR" sz="1400" dirty="0" err="1"/>
              <a:t>Grafana</a:t>
            </a:r>
            <a:r>
              <a:rPr lang="fr-FR" sz="1400" dirty="0"/>
              <a:t>, Kepler, Wireshark</a:t>
            </a:r>
          </a:p>
          <a:p>
            <a:pPr lvl="1">
              <a:lnSpc>
                <a:spcPct val="100000"/>
              </a:lnSpc>
            </a:pPr>
            <a:r>
              <a:rPr lang="fr-FR" sz="1400" dirty="0"/>
              <a:t>Bases de données : SQL, MySQL, MongoDB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fr-FR" sz="1600" b="1" dirty="0"/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AutoNum type="arabicPeriod"/>
            </a:pPr>
            <a:r>
              <a:rPr lang="fr-FR" sz="2000" b="1" dirty="0">
                <a:solidFill>
                  <a:srgbClr val="005FA1"/>
                </a:solidFill>
              </a:rPr>
              <a:t>Compétences transversales (Soft </a:t>
            </a:r>
            <a:r>
              <a:rPr lang="fr-FR" sz="2000" b="1" dirty="0" err="1">
                <a:solidFill>
                  <a:srgbClr val="005FA1"/>
                </a:solidFill>
              </a:rPr>
              <a:t>skills</a:t>
            </a:r>
            <a:r>
              <a:rPr lang="fr-FR" sz="2000" b="1" dirty="0">
                <a:solidFill>
                  <a:srgbClr val="005FA1"/>
                </a:solidFill>
              </a:rPr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400" dirty="0">
                <a:solidFill>
                  <a:prstClr val="black"/>
                </a:solidFill>
              </a:rPr>
              <a:t>Communication multilingue : Français (B2), Anglais (B2), Chinois (C2)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400" dirty="0">
                <a:solidFill>
                  <a:prstClr val="black"/>
                </a:solidFill>
              </a:rPr>
              <a:t>Travail en équipe multiculturelle (projets académiques, JO &amp; Paralympiques)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400" dirty="0">
                <a:solidFill>
                  <a:prstClr val="black"/>
                </a:solidFill>
              </a:rPr>
              <a:t>Autonomie et gestion de projet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400" dirty="0">
                <a:solidFill>
                  <a:prstClr val="black"/>
                </a:solidFill>
              </a:rPr>
              <a:t>Esprit d’innovation et prise d’initiative</a:t>
            </a:r>
          </a:p>
          <a:p>
            <a:pPr lvl="1">
              <a:lnSpc>
                <a:spcPct val="100000"/>
              </a:lnSpc>
              <a:defRPr/>
            </a:pPr>
            <a:r>
              <a:rPr lang="fr-FR" altLang="zh-CN" sz="1400" dirty="0">
                <a:solidFill>
                  <a:prstClr val="black"/>
                </a:solidFill>
              </a:rPr>
              <a:t>Résilience face aux contraintes et aux imprévus</a:t>
            </a:r>
            <a:endParaRPr lang="fr-FR" altLang="zh-CN" sz="1600" b="1" dirty="0">
              <a:solidFill>
                <a:prstClr val="black"/>
              </a:solidFill>
              <a:latin typeface="等线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5916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B5558223-A3F9-8EAA-9397-5956C5EC3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86"/>
          <a:stretch>
            <a:fillRect/>
          </a:stretch>
        </p:blipFill>
        <p:spPr>
          <a:xfrm>
            <a:off x="7262341" y="3854429"/>
            <a:ext cx="4364509" cy="25711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BE7FC24-FBCD-23C7-1E6A-4E01E7AE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r>
              <a:rPr lang="en-GB" altLang="zh-CN" b="1" dirty="0">
                <a:solidFill>
                  <a:srgbClr val="005FA1"/>
                </a:solidFill>
              </a:rPr>
              <a:t>5.2 Poste </a:t>
            </a:r>
            <a:r>
              <a:rPr lang="en-GB" altLang="zh-CN" b="1" dirty="0" err="1">
                <a:solidFill>
                  <a:srgbClr val="005FA1"/>
                </a:solidFill>
              </a:rPr>
              <a:t>visé</a:t>
            </a:r>
            <a:endParaRPr lang="zh-CN" altLang="en-US" b="1" dirty="0">
              <a:solidFill>
                <a:srgbClr val="005FA1"/>
              </a:solidFill>
            </a:endParaRPr>
          </a:p>
        </p:txBody>
      </p:sp>
      <p:pic>
        <p:nvPicPr>
          <p:cNvPr id="7" name="内容占位符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759E73F1-D440-A749-D370-3672B1D27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341" y="1202423"/>
            <a:ext cx="4364509" cy="2626605"/>
          </a:xfr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D248DD3-020E-01E5-CB07-033040DDD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48" y="166058"/>
            <a:ext cx="1528092" cy="64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F04F33-C9B0-AE95-9EE0-2ACF0812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FF266-60CB-4CDF-874D-74B1CF889C5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51B52836-E6D7-5BC3-45EE-BF09EFD58DCB}"/>
              </a:ext>
            </a:extLst>
          </p:cNvPr>
          <p:cNvSpPr txBox="1">
            <a:spLocks/>
          </p:cNvSpPr>
          <p:nvPr/>
        </p:nvSpPr>
        <p:spPr>
          <a:xfrm>
            <a:off x="420249" y="1386573"/>
            <a:ext cx="6618584" cy="716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fr-FR" altLang="zh-CN" sz="2200" b="1" dirty="0">
                <a:solidFill>
                  <a:srgbClr val="005FA1"/>
                </a:solidFill>
              </a:rPr>
              <a:t>Poste</a:t>
            </a:r>
            <a:endParaRPr lang="fr-FR" altLang="zh-CN" sz="2200" dirty="0">
              <a:solidFill>
                <a:srgbClr val="005FA1"/>
              </a:solidFill>
            </a:endParaRPr>
          </a:p>
          <a:p>
            <a:pPr marL="742950" lvl="1" indent="-285750"/>
            <a:r>
              <a:rPr lang="fr-FR" altLang="zh-CN" sz="1800" dirty="0"/>
              <a:t>Doctorat en réseaux de communication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CAFFD8-F746-B31B-A88A-BA94A9EDBC79}"/>
              </a:ext>
            </a:extLst>
          </p:cNvPr>
          <p:cNvSpPr txBox="1"/>
          <p:nvPr/>
        </p:nvSpPr>
        <p:spPr>
          <a:xfrm>
            <a:off x="420249" y="2129364"/>
            <a:ext cx="67739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altLang="zh-CN" sz="2200" b="1" dirty="0">
                <a:solidFill>
                  <a:srgbClr val="005FA1"/>
                </a:solidFill>
              </a:rPr>
              <a:t>Missions principales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Recherche sur les réseaux sans fil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Expérimentations sur les systèmes IoT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Production scientifique et collaborations internationales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A89859-8695-A25F-B19B-6D6F5DD7457C}"/>
              </a:ext>
            </a:extLst>
          </p:cNvPr>
          <p:cNvSpPr txBox="1"/>
          <p:nvPr/>
        </p:nvSpPr>
        <p:spPr>
          <a:xfrm>
            <a:off x="420249" y="3417405"/>
            <a:ext cx="688568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altLang="zh-CN" sz="2200" b="1" dirty="0">
                <a:solidFill>
                  <a:srgbClr val="005FA1"/>
                </a:solidFill>
              </a:rPr>
              <a:t>Critères recherchés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Sujet clair : 5G/6G, IoT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Environnement international et interdisciplinaire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Autonomie et espace d’innovation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Valorisation des résultats et publications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0B8118-6723-9AB4-D794-27BBC4204C44}"/>
              </a:ext>
            </a:extLst>
          </p:cNvPr>
          <p:cNvSpPr txBox="1"/>
          <p:nvPr/>
        </p:nvSpPr>
        <p:spPr>
          <a:xfrm>
            <a:off x="426196" y="4982445"/>
            <a:ext cx="66126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fr-FR" altLang="zh-CN" sz="2200" b="1" dirty="0">
                <a:solidFill>
                  <a:srgbClr val="005FA1"/>
                </a:solidFill>
              </a:rPr>
              <a:t> Doctorat identifié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Doctorat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Sorbonne – ISEP – Académie des sciences de Chine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800" dirty="0"/>
              <a:t>Projet sur la fusion Wi-Fi &amp; IoT</a:t>
            </a:r>
          </a:p>
        </p:txBody>
      </p:sp>
    </p:spTree>
    <p:extLst>
      <p:ext uri="{BB962C8B-B14F-4D97-AF65-F5344CB8AC3E}">
        <p14:creationId xmlns:p14="http://schemas.microsoft.com/office/powerpoint/2010/main" val="242340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D80CCEC-0BA4-EBC6-42A5-5F1F6BE6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6000" b="1" kern="1200" dirty="0">
                <a:solidFill>
                  <a:srgbClr val="005FA1"/>
                </a:solidFill>
                <a:latin typeface="+mj-lt"/>
                <a:ea typeface="+mj-ea"/>
                <a:cs typeface="+mj-cs"/>
              </a:rPr>
              <a:t>Merci pour </a:t>
            </a:r>
            <a:r>
              <a:rPr lang="en-US" altLang="zh-CN" sz="6000" b="1" kern="1200" dirty="0" err="1">
                <a:solidFill>
                  <a:srgbClr val="005FA1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altLang="zh-CN" sz="6000" b="1" kern="1200" dirty="0">
                <a:solidFill>
                  <a:srgbClr val="005FA1"/>
                </a:solidFill>
                <a:latin typeface="+mj-lt"/>
                <a:ea typeface="+mj-ea"/>
                <a:cs typeface="+mj-cs"/>
              </a:rPr>
              <a:t> attention.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1FB3B0-AD90-264B-FB0D-6FA5D9A5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17FF266-60CB-4CDF-874D-74B1CF889C50}" type="slidenum"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617DFB2-0BDF-BF08-542B-021BB7269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255" y="503280"/>
            <a:ext cx="2015490" cy="85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596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1f90f2-a85f-42a7-9fae-f36b87f55c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4C57AABDD3FE4C8D0F610AC9A6F681" ma:contentTypeVersion="13" ma:contentTypeDescription="Crée un document." ma:contentTypeScope="" ma:versionID="47c15781c6083d3bc5c9bd5dd9e7b2f6">
  <xsd:schema xmlns:xsd="http://www.w3.org/2001/XMLSchema" xmlns:xs="http://www.w3.org/2001/XMLSchema" xmlns:p="http://schemas.microsoft.com/office/2006/metadata/properties" xmlns:ns3="2e1f90f2-a85f-42a7-9fae-f36b87f55cf8" xmlns:ns4="1a430a87-97d8-4638-ba74-2103fd9e5490" targetNamespace="http://schemas.microsoft.com/office/2006/metadata/properties" ma:root="true" ma:fieldsID="50891da859c1b5de84bb86c3d4d9a4bc" ns3:_="" ns4:_="">
    <xsd:import namespace="2e1f90f2-a85f-42a7-9fae-f36b87f55cf8"/>
    <xsd:import namespace="1a430a87-97d8-4638-ba74-2103fd9e54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f90f2-a85f-42a7-9fae-f36b87f55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a87-97d8-4638-ba74-2103fd9e5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86EE00-AD35-4197-91A4-11393C5E774C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1a430a87-97d8-4638-ba74-2103fd9e5490"/>
    <ds:schemaRef ds:uri="2e1f90f2-a85f-42a7-9fae-f36b87f55cf8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9DD373E-63E4-470F-AD14-B16A72503B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CFF3AF-27BF-422E-A607-1B2F402CF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f90f2-a85f-42a7-9fae-f36b87f55cf8"/>
    <ds:schemaRef ds:uri="1a430a87-97d8-4638-ba74-2103fd9e5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2100</Words>
  <Application>Microsoft Office PowerPoint</Application>
  <PresentationFormat>宽屏</PresentationFormat>
  <Paragraphs>214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</vt:lpstr>
      <vt:lpstr>Calibri</vt:lpstr>
      <vt:lpstr>Wingdings</vt:lpstr>
      <vt:lpstr>等线</vt:lpstr>
      <vt:lpstr>等线 Light</vt:lpstr>
      <vt:lpstr>Office 主题​​</vt:lpstr>
      <vt:lpstr>Bilan de compétences  et Projet professionnel</vt:lpstr>
      <vt:lpstr>Plan</vt:lpstr>
      <vt:lpstr>1. Parcours académique et expériences</vt:lpstr>
      <vt:lpstr>2.1 Compétences spécialisées</vt:lpstr>
      <vt:lpstr>2.2 Compétences générales</vt:lpstr>
      <vt:lpstr>3. Écarts et axes de progrès</vt:lpstr>
      <vt:lpstr>4.1 Projet professionnel</vt:lpstr>
      <vt:lpstr>4.2 SWOT – Analyse personnelle</vt:lpstr>
      <vt:lpstr>5.1 CV</vt:lpstr>
      <vt:lpstr>5.2 Poste visé</vt:lpstr>
      <vt:lpstr>Merci pour votre attention.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Xiaofan GUO</dc:creator>
  <cp:lastModifiedBy>Xiaofan GUO</cp:lastModifiedBy>
  <cp:revision>2</cp:revision>
  <dcterms:created xsi:type="dcterms:W3CDTF">2025-09-23T10:47:48Z</dcterms:created>
  <dcterms:modified xsi:type="dcterms:W3CDTF">2025-09-25T11:29:00Z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0x0101001B4C57AABDD3FE4C8D0F610AC9A6F681</vt:lpwstr>
  </property>
</Properties>
</file>